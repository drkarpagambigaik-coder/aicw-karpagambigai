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tags/tag16.xml" ContentType="application/vnd.openxmlformats-officedocument.presentationml.tags+xml"/>
  <Override PartName="/ppt/notesSlides/notesSlide12.xml" ContentType="application/vnd.openxmlformats-officedocument.presentationml.notesSlide+xml"/>
  <Override PartName="/ppt/tags/tag17.xml" ContentType="application/vnd.openxmlformats-officedocument.presentationml.tags+xml"/>
  <Override PartName="/ppt/notesSlides/notesSlide13.xml" ContentType="application/vnd.openxmlformats-officedocument.presentationml.notesSlide+xml"/>
  <Override PartName="/ppt/tags/tag18.xml" ContentType="application/vnd.openxmlformats-officedocument.presentationml.tags+xml"/>
  <Override PartName="/ppt/notesSlides/notesSlide14.xml" ContentType="application/vnd.openxmlformats-officedocument.presentationml.notesSlide+xml"/>
  <Override PartName="/ppt/tags/tag19.xml" ContentType="application/vnd.openxmlformats-officedocument.presentationml.tags+xml"/>
  <Override PartName="/ppt/notesSlides/notesSlide15.xml" ContentType="application/vnd.openxmlformats-officedocument.presentationml.notesSlide+xml"/>
  <Override PartName="/ppt/tags/tag20.xml" ContentType="application/vnd.openxmlformats-officedocument.presentationml.tags+xml"/>
  <Override PartName="/ppt/notesSlides/notesSlide16.xml" ContentType="application/vnd.openxmlformats-officedocument.presentationml.notesSlide+xml"/>
  <Override PartName="/ppt/tags/tag21.xml" ContentType="application/vnd.openxmlformats-officedocument.presentationml.tags+xml"/>
  <Override PartName="/ppt/notesSlides/notesSlide17.xml" ContentType="application/vnd.openxmlformats-officedocument.presentationml.notesSlide+xml"/>
  <Override PartName="/ppt/tags/tag22.xml" ContentType="application/vnd.openxmlformats-officedocument.presentationml.tags+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68" r:id="rId2"/>
    <p:sldId id="257" r:id="rId3"/>
    <p:sldId id="258" r:id="rId4"/>
    <p:sldId id="259" r:id="rId5"/>
    <p:sldId id="260" r:id="rId6"/>
    <p:sldId id="261" r:id="rId7"/>
    <p:sldId id="271" r:id="rId8"/>
    <p:sldId id="272" r:id="rId9"/>
    <p:sldId id="275" r:id="rId10"/>
    <p:sldId id="276" r:id="rId11"/>
    <p:sldId id="262" r:id="rId12"/>
    <p:sldId id="281" r:id="rId13"/>
    <p:sldId id="277" r:id="rId14"/>
    <p:sldId id="278" r:id="rId15"/>
    <p:sldId id="279" r:id="rId16"/>
    <p:sldId id="264" r:id="rId17"/>
    <p:sldId id="265" r:id="rId18"/>
    <p:sldId id="266" r:id="rId19"/>
  </p:sldIdLst>
  <p:sldSz cx="9144000" cy="5143500" type="screen16x9"/>
  <p:notesSz cx="5143500" cy="9144000"/>
  <p:custDataLst>
    <p:tags r:id="rId21"/>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816" y="108"/>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tags" Target="tags/tag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8501532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5572915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5089396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6451645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630812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5913090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9925420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9013746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notesSlide" Target="../notesSlides/notesSlide1.xml"/><Relationship Id="rId7"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3.png"/><Relationship Id="rId5" Type="http://schemas.openxmlformats.org/officeDocument/2006/relationships/image" Target="../media/image3.svg"/><Relationship Id="rId10" Type="http://schemas.openxmlformats.org/officeDocument/2006/relationships/image" Target="../media/image7.png"/><Relationship Id="rId4" Type="http://schemas.openxmlformats.org/officeDocument/2006/relationships/image" Target="../media/image2.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5" Type="http://schemas.openxmlformats.org/officeDocument/2006/relationships/image" Target="../media/image11.sv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2.emf"/></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5" Type="http://schemas.openxmlformats.org/officeDocument/2006/relationships/image" Target="../media/image14.emf"/><Relationship Id="rId4" Type="http://schemas.openxmlformats.org/officeDocument/2006/relationships/image" Target="../media/image13.emf"/></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5.emf"/></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8.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9.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20.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ags" Target="../tags/tag21.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ags" Target="../tags/tag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54979" y="3806607"/>
            <a:ext cx="1815458" cy="227435"/>
          </a:xfrm>
          <a:prstGeom prst="rect">
            <a:avLst/>
          </a:prstGeom>
        </p:spPr>
        <p:txBody>
          <a:bodyPr wrap="square" lIns="0" tIns="0" rIns="0" bIns="0" rtlCol="0" anchor="t">
            <a:spAutoFit/>
          </a:bodyPr>
          <a:lstStyle/>
          <a:p>
            <a:pPr>
              <a:lnSpc>
                <a:spcPts val="2038"/>
              </a:lnSpc>
            </a:pPr>
            <a:r>
              <a:rPr lang="en-US" sz="1200" b="1" dirty="0" smtClean="0">
                <a:solidFill>
                  <a:srgbClr val="0D358D"/>
                </a:solidFill>
                <a:latin typeface="Arial" panose="020B0604020202020204" pitchFamily="34" charset="0"/>
                <a:ea typeface="Aileron Bold"/>
                <a:cs typeface="Arial" panose="020B0604020202020204" pitchFamily="34" charset="0"/>
                <a:sym typeface="Aileron Bold"/>
              </a:rPr>
              <a:t>Dr. K.KARPAGAMBIGAI</a:t>
            </a: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6"/>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625331" cy="256480"/>
          </a:xfrm>
          <a:prstGeom prst="rect">
            <a:avLst/>
          </a:prstGeom>
        </p:spPr>
        <p:txBody>
          <a:bodyPr wrap="square" lIns="0" tIns="0" rIns="0" bIns="0" rtlCol="0" anchor="t">
            <a:spAutoFit/>
          </a:bodyPr>
          <a:lstStyle/>
          <a:p>
            <a:pPr>
              <a:lnSpc>
                <a:spcPts val="2038"/>
              </a:lnSpc>
            </a:pPr>
            <a:r>
              <a:rPr lang="en-US" sz="1200" b="1" dirty="0" smtClean="0">
                <a:solidFill>
                  <a:srgbClr val="0D358D"/>
                </a:solidFill>
                <a:latin typeface="Arial" panose="020B0604020202020204" pitchFamily="34" charset="0"/>
                <a:ea typeface="Aileron Bold"/>
                <a:cs typeface="Arial" panose="020B0604020202020204" pitchFamily="34" charset="0"/>
                <a:sym typeface="Aileron Bold"/>
              </a:rPr>
              <a:t>drkarpagambigaik@veltech.edu.in</a:t>
            </a: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6"/>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418064"/>
            <a:chOff x="3139699" y="4295282"/>
            <a:chExt cx="2272871" cy="418064"/>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56480"/>
            </a:xfrm>
            <a:prstGeom prst="rect">
              <a:avLst/>
            </a:prstGeom>
          </p:spPr>
          <p:txBody>
            <a:bodyPr lIns="0" tIns="0" rIns="0" bIns="0" rtlCol="0" anchor="t">
              <a:spAutoFit/>
            </a:bodyPr>
            <a:lstStyle/>
            <a:p>
              <a:pPr>
                <a:lnSpc>
                  <a:spcPts val="2038"/>
                </a:lnSpc>
              </a:pPr>
              <a:r>
                <a:rPr lang="en-US" sz="1200" b="1" dirty="0" smtClean="0">
                  <a:solidFill>
                    <a:srgbClr val="0D358D"/>
                  </a:solidFill>
                  <a:latin typeface="Arial" panose="020B0604020202020204" pitchFamily="34" charset="0"/>
                  <a:ea typeface="Aileron Bold"/>
                  <a:cs typeface="Arial" panose="020B0604020202020204" pitchFamily="34" charset="0"/>
                  <a:sym typeface="Aileron Bold"/>
                </a:rPr>
                <a:t>Ms. R. UMAHESWARI</a:t>
              </a: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7"/>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8"/>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9"/>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10"/>
          <a:srcRect b="19729"/>
          <a:stretch>
            <a:fillRect/>
          </a:stretch>
        </p:blipFill>
        <p:spPr>
          <a:xfrm>
            <a:off x="173754" y="1046557"/>
            <a:ext cx="3854253" cy="1849530"/>
          </a:xfrm>
          <a:prstGeom prst="rect">
            <a:avLst/>
          </a:prstGeom>
        </p:spPr>
      </p:pic>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        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478465" y="1080603"/>
            <a:ext cx="4603898"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b="1"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Abstract of the Project</a:t>
            </a:r>
            <a:endParaRPr lang="en-IN"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ea typeface="+mn-lt"/>
                <a:cs typeface="Times New Roman" panose="02020603050405020304" pitchFamily="18" charset="0"/>
              </a:rPr>
              <a:t>Problem Statement</a:t>
            </a:r>
          </a:p>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ea typeface="+mn-lt"/>
                <a:cs typeface="Times New Roman" panose="02020603050405020304" pitchFamily="18" charset="0"/>
              </a:rPr>
              <a:t>Proposed Solution</a:t>
            </a:r>
          </a:p>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ea typeface="+mn-lt"/>
                <a:cs typeface="Times New Roman" panose="02020603050405020304" pitchFamily="18" charset="0"/>
              </a:rPr>
              <a:t>System Architecture</a:t>
            </a:r>
          </a:p>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ea typeface="+mn-lt"/>
                <a:cs typeface="Times New Roman" panose="02020603050405020304" pitchFamily="18" charset="0"/>
              </a:rPr>
              <a:t>Live Demo of the Project</a:t>
            </a:r>
          </a:p>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ea typeface="+mn-lt"/>
                <a:cs typeface="Times New Roman" panose="02020603050405020304" pitchFamily="18" charset="0"/>
              </a:rPr>
              <a:t>Embedded Video of Project</a:t>
            </a:r>
          </a:p>
          <a:p>
            <a:pPr marL="228600" indent="-228600">
              <a:spcAft>
                <a:spcPts val="800"/>
              </a:spcAft>
              <a:buFont typeface="Arial" panose="020B0604020202020204" pitchFamily="34" charset="0"/>
              <a:buChar char="•"/>
              <a:tabLst>
                <a:tab pos="4229100" algn="ctr"/>
              </a:tabLst>
            </a:pPr>
            <a:r>
              <a:rPr lang="en-IN" b="1" dirty="0">
                <a:latin typeface="Times New Roman" panose="02020603050405020304" pitchFamily="18" charset="0"/>
                <a:ea typeface="+mn-lt"/>
                <a:cs typeface="Times New Roman" panose="02020603050405020304" pitchFamily="18" charset="0"/>
              </a:rPr>
              <a:t>Conclusion</a:t>
            </a:r>
          </a:p>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ea typeface="+mn-lt"/>
                <a:cs typeface="Times New Roman" panose="02020603050405020304" pitchFamily="18"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3646967" y="1034325"/>
            <a:ext cx="4600563"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328145"/>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39" y="1082801"/>
            <a:ext cx="7051738" cy="4057521"/>
          </a:xfrm>
          <a:prstGeom prst="rect">
            <a:avLst/>
          </a:prstGeom>
          <a:noFill/>
        </p:spPr>
        <p:txBody>
          <a:bodyPr wrap="square">
            <a:spAutoFit/>
          </a:bodyPr>
          <a:lstStyle/>
          <a:p>
            <a:pPr>
              <a:lnSpc>
                <a:spcPct val="150000"/>
              </a:lnSpc>
              <a:spcAft>
                <a:spcPts val="800"/>
              </a:spcAft>
              <a:tabLst>
                <a:tab pos="4229100" algn="ctr"/>
              </a:tabLst>
            </a:pPr>
            <a:r>
              <a:rPr lang="en-IN" sz="1200" dirty="0"/>
              <a:t>This project focuses on the application of data analytics and artificial intelligence tools to evaluate student feedback for the Cost Accounting course across </a:t>
            </a:r>
            <a:r>
              <a:rPr lang="en-IN" sz="1200" dirty="0" err="1"/>
              <a:t>B.Com</a:t>
            </a:r>
            <a:r>
              <a:rPr lang="en-IN" sz="1200" dirty="0"/>
              <a:t> specializations. The dataset consists of 480 student responses collected under multiple themes, including syllabus coverage, communication, assessment, engagement, growth opportunities, and employability skills. </a:t>
            </a:r>
            <a:endParaRPr lang="en-IN" sz="1200" dirty="0" smtClean="0"/>
          </a:p>
          <a:p>
            <a:pPr>
              <a:lnSpc>
                <a:spcPct val="150000"/>
              </a:lnSpc>
              <a:spcAft>
                <a:spcPts val="800"/>
              </a:spcAft>
              <a:tabLst>
                <a:tab pos="4229100" algn="ctr"/>
              </a:tabLst>
            </a:pPr>
            <a:r>
              <a:rPr lang="en-US" sz="1200" dirty="0" smtClean="0"/>
              <a:t>The </a:t>
            </a:r>
            <a:r>
              <a:rPr lang="en-US" sz="1200" dirty="0"/>
              <a:t>objectives of the study were to structure and clean the dataset, analyze faculty performance and course effectiveness using quantitative techniques, develop interactive dashboards using Microsoft Excel and Power BI, and integrate AI tools such as Microsoft Copilot and </a:t>
            </a:r>
            <a:r>
              <a:rPr lang="en-US" sz="1200" dirty="0" err="1"/>
              <a:t>chatbot</a:t>
            </a:r>
            <a:r>
              <a:rPr lang="en-US" sz="1200" dirty="0"/>
              <a:t> systems for automated insight generation. </a:t>
            </a:r>
            <a:endParaRPr lang="en-US" sz="1200" dirty="0" smtClean="0"/>
          </a:p>
          <a:p>
            <a:pPr>
              <a:lnSpc>
                <a:spcPct val="150000"/>
              </a:lnSpc>
              <a:spcAft>
                <a:spcPts val="800"/>
              </a:spcAft>
              <a:tabLst>
                <a:tab pos="4229100" algn="ctr"/>
              </a:tabLst>
            </a:pPr>
            <a:r>
              <a:rPr lang="en-US" sz="1200" dirty="0" smtClean="0"/>
              <a:t>The results highlights </a:t>
            </a:r>
            <a:r>
              <a:rPr lang="en-US" sz="1200" dirty="0"/>
              <a:t>key performance indicators and highlight areas </a:t>
            </a:r>
            <a:r>
              <a:rPr lang="en-US" sz="1200" dirty="0" smtClean="0"/>
              <a:t>requiring improvement </a:t>
            </a:r>
            <a:r>
              <a:rPr lang="en-US" sz="1200" dirty="0"/>
              <a:t>in teaching and learning processes</a:t>
            </a:r>
            <a:r>
              <a:rPr lang="en-US" sz="1200" dirty="0" smtClean="0"/>
              <a:t>.</a:t>
            </a:r>
            <a:r>
              <a:rPr lang="en-US" dirty="0"/>
              <a:t> </a:t>
            </a:r>
            <a:r>
              <a:rPr lang="en-US" sz="1200" dirty="0"/>
              <a:t>Faculty performance evaluation indicated measurable differences in effectiveness, and the dashboard visualizations provided clear insights into strengths and weaknesses across themes. The use of AI tools enhanced the speed and accuracy of analysis, enabling efficient identification of trends and patterns.</a:t>
            </a:r>
          </a:p>
          <a:p>
            <a:pPr>
              <a:spcAft>
                <a:spcPts val="800"/>
              </a:spcAft>
              <a:tabLst>
                <a:tab pos="4229100" algn="ctr"/>
              </a:tabLst>
            </a:pPr>
            <a:endParaRPr lang="en-US" sz="1200" dirty="0"/>
          </a:p>
          <a:p>
            <a:pPr>
              <a:spcAft>
                <a:spcPts val="800"/>
              </a:spcAft>
              <a:tabLst>
                <a:tab pos="4229100" algn="ctr"/>
              </a:tabLst>
            </a:pPr>
            <a:endParaRPr lang="en-US" sz="1200" dirty="0">
              <a:latin typeface="Lato" panose="020F0502020204030203" pitchFamily="34" charset="0"/>
              <a:ea typeface="+mn-lt"/>
              <a:cs typeface="Arial" panose="020B0604020202020204" pitchFamily="34" charset="0"/>
            </a:endParaRPr>
          </a:p>
        </p:txBody>
      </p:sp>
      <p:sp>
        <p:nvSpPr>
          <p:cNvPr id="2" name="Freeform 28">
            <a:extLst>
              <a:ext uri="{FF2B5EF4-FFF2-40B4-BE49-F238E27FC236}">
                <a16:creationId xmlns:a16="http://schemas.microsoft.com/office/drawing/2014/main" id="{AA7F05EE-340D-A58A-BAD0-FB0660B2D339}"/>
              </a:ext>
            </a:extLst>
          </p:cNvPr>
          <p:cNvSpPr/>
          <p:nvPr/>
        </p:nvSpPr>
        <p:spPr>
          <a:xfrm>
            <a:off x="7262037" y="1082801"/>
            <a:ext cx="1622882"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5550195" y="873760"/>
            <a:ext cx="3285196"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39" y="1082801"/>
            <a:ext cx="6126705" cy="3631763"/>
          </a:xfrm>
          <a:prstGeom prst="rect">
            <a:avLst/>
          </a:prstGeom>
          <a:noFill/>
        </p:spPr>
        <p:txBody>
          <a:bodyPr wrap="square">
            <a:spAutoFit/>
          </a:bodyPr>
          <a:lstStyle/>
          <a:p>
            <a:pPr>
              <a:lnSpc>
                <a:spcPct val="150000"/>
              </a:lnSpc>
            </a:pPr>
            <a:r>
              <a:rPr lang="en-US" sz="1400" dirty="0"/>
              <a:t>Educational institutions routinely collect student feedback to evaluate teaching effectiveness and course quality. However, in the context of the Cost Accounting course offered across </a:t>
            </a:r>
            <a:r>
              <a:rPr lang="en-US" sz="1400" dirty="0" err="1"/>
              <a:t>B.Com</a:t>
            </a:r>
            <a:r>
              <a:rPr lang="en-US" sz="1400" dirty="0"/>
              <a:t> specializations, the feedback data is often underutilized due to several operational and analytical limitations</a:t>
            </a:r>
            <a:r>
              <a:rPr lang="en-US" sz="1400" dirty="0" smtClean="0"/>
              <a:t>.</a:t>
            </a:r>
            <a:r>
              <a:rPr lang="en-US" b="1" dirty="0"/>
              <a:t> </a:t>
            </a:r>
            <a:endParaRPr lang="en-US" b="1" dirty="0" smtClean="0"/>
          </a:p>
          <a:p>
            <a:pPr>
              <a:lnSpc>
                <a:spcPct val="200000"/>
              </a:lnSpc>
            </a:pPr>
            <a:r>
              <a:rPr lang="en-US" sz="1400" b="1" dirty="0"/>
              <a:t>L</a:t>
            </a:r>
            <a:r>
              <a:rPr lang="en-US" sz="1400" b="1" dirty="0" smtClean="0"/>
              <a:t>ack </a:t>
            </a:r>
            <a:r>
              <a:rPr lang="en-US" sz="1400" b="1" dirty="0"/>
              <a:t>of a structured and systematic approach</a:t>
            </a:r>
            <a:r>
              <a:rPr lang="en-US" sz="1400" dirty="0"/>
              <a:t> </a:t>
            </a:r>
            <a:endParaRPr lang="en-US" sz="1400" dirty="0" smtClean="0"/>
          </a:p>
          <a:p>
            <a:pPr>
              <a:lnSpc>
                <a:spcPct val="200000"/>
              </a:lnSpc>
            </a:pPr>
            <a:r>
              <a:rPr lang="en-US" sz="1400" b="1" dirty="0"/>
              <a:t>A</a:t>
            </a:r>
            <a:r>
              <a:rPr lang="en-US" sz="1400" b="1" dirty="0" smtClean="0"/>
              <a:t>bsence </a:t>
            </a:r>
            <a:r>
              <a:rPr lang="en-US" sz="1400" b="1" dirty="0"/>
              <a:t>of integrated analytical tools and visualization </a:t>
            </a:r>
            <a:r>
              <a:rPr lang="en-US" sz="1400" b="1" dirty="0" smtClean="0"/>
              <a:t>Mechanism</a:t>
            </a:r>
          </a:p>
          <a:p>
            <a:pPr>
              <a:lnSpc>
                <a:spcPct val="200000"/>
              </a:lnSpc>
            </a:pPr>
            <a:r>
              <a:rPr lang="en-US" sz="1400" b="1" dirty="0"/>
              <a:t>A</a:t>
            </a:r>
            <a:r>
              <a:rPr lang="en-US" sz="1400" b="1" dirty="0" smtClean="0"/>
              <a:t>doption </a:t>
            </a:r>
            <a:r>
              <a:rPr lang="en-US" sz="1400" dirty="0" smtClean="0"/>
              <a:t>of </a:t>
            </a:r>
            <a:r>
              <a:rPr lang="en-US" sz="1400" b="1" dirty="0"/>
              <a:t>limited of AI-driven tools</a:t>
            </a:r>
            <a:r>
              <a:rPr lang="en-US" sz="1400" dirty="0"/>
              <a:t> </a:t>
            </a:r>
            <a:endParaRPr lang="en-US" sz="1400" dirty="0" smtClean="0"/>
          </a:p>
          <a:p>
            <a:pPr>
              <a:lnSpc>
                <a:spcPct val="200000"/>
              </a:lnSpc>
            </a:pPr>
            <a:r>
              <a:rPr lang="en-IN" sz="1400" b="1" dirty="0" smtClean="0"/>
              <a:t>Lack </a:t>
            </a:r>
            <a:r>
              <a:rPr lang="en-IN" sz="1400" b="1" dirty="0"/>
              <a:t>of Real-Time and Automated </a:t>
            </a:r>
            <a:r>
              <a:rPr lang="en-IN" sz="1400" b="1" dirty="0" smtClean="0"/>
              <a:t>Insights</a:t>
            </a:r>
          </a:p>
          <a:p>
            <a:pPr>
              <a:lnSpc>
                <a:spcPct val="200000"/>
              </a:lnSpc>
            </a:pPr>
            <a:r>
              <a:rPr lang="en-IN" sz="1400" b="1" dirty="0"/>
              <a:t>Absence of Standardized Analytical </a:t>
            </a:r>
            <a:r>
              <a:rPr lang="en-IN" sz="1400" b="1" dirty="0" smtClean="0"/>
              <a:t>Framework</a:t>
            </a:r>
            <a:endParaRPr lang="en-US" sz="1400" dirty="0"/>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5837274" y="725532"/>
            <a:ext cx="3306726" cy="4203183"/>
          </a:xfrm>
          <a:prstGeom prst="rect">
            <a:avLst/>
          </a:prstGeom>
        </p:spPr>
      </p:pic>
      <p:sp>
        <p:nvSpPr>
          <p:cNvPr id="4" name="Text 2"/>
          <p:cNvSpPr/>
          <p:nvPr/>
        </p:nvSpPr>
        <p:spPr>
          <a:xfrm>
            <a:off x="236043" y="659999"/>
            <a:ext cx="8229600" cy="663230"/>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5" y="1360967"/>
            <a:ext cx="6658087" cy="3072810"/>
          </a:xfrm>
          <a:prstGeom prst="rect">
            <a:avLst/>
          </a:prstGeom>
          <a:noFill/>
          <a:ln/>
        </p:spPr>
        <p:txBody>
          <a:bodyPr wrap="square" rtlCol="0" anchor="t"/>
          <a:lstStyle/>
          <a:p>
            <a:pPr>
              <a:lnSpc>
                <a:spcPct val="150000"/>
              </a:lnSpc>
            </a:pPr>
            <a:r>
              <a:rPr lang="en-US" sz="1600" dirty="0" smtClean="0"/>
              <a:t>The </a:t>
            </a:r>
            <a:r>
              <a:rPr lang="en-US" sz="1600" dirty="0"/>
              <a:t>solutions emphasize a </a:t>
            </a:r>
            <a:r>
              <a:rPr lang="en-US" sz="1600" b="1" dirty="0"/>
              <a:t>multi-dimensional improvement strategy</a:t>
            </a:r>
            <a:r>
              <a:rPr lang="en-US" sz="1600" dirty="0"/>
              <a:t> integrating teaching quality, student engagement, assessment practices, and data-driven evaluation. </a:t>
            </a:r>
            <a:endParaRPr lang="en-US" sz="1600" dirty="0" smtClean="0"/>
          </a:p>
          <a:p>
            <a:pPr marL="285750" indent="-285750">
              <a:lnSpc>
                <a:spcPct val="150000"/>
              </a:lnSpc>
              <a:buFont typeface="Wingdings" panose="05000000000000000000" pitchFamily="2" charset="2"/>
              <a:buChar char="v"/>
            </a:pPr>
            <a:r>
              <a:rPr lang="en-US" sz="1600" dirty="0" smtClean="0"/>
              <a:t>Introduce </a:t>
            </a:r>
            <a:r>
              <a:rPr lang="en-US" sz="1600" dirty="0"/>
              <a:t>performance-based incentives linked to feedback scores</a:t>
            </a:r>
            <a:r>
              <a:rPr lang="en-US" sz="1600" dirty="0" smtClean="0"/>
              <a:t>.</a:t>
            </a:r>
          </a:p>
          <a:p>
            <a:pPr marL="285750" indent="-285750">
              <a:lnSpc>
                <a:spcPct val="150000"/>
              </a:lnSpc>
              <a:buFont typeface="Wingdings" panose="05000000000000000000" pitchFamily="2" charset="2"/>
              <a:buChar char="v"/>
            </a:pPr>
            <a:r>
              <a:rPr lang="en-US" sz="1600" dirty="0" smtClean="0"/>
              <a:t>Develop </a:t>
            </a:r>
            <a:r>
              <a:rPr lang="en-US" sz="1600" dirty="0"/>
              <a:t>a quality assurance framework for teaching effectiveness</a:t>
            </a:r>
            <a:r>
              <a:rPr lang="en-US" sz="1600" dirty="0" smtClean="0"/>
              <a:t>.</a:t>
            </a:r>
          </a:p>
          <a:p>
            <a:pPr marL="285750" indent="-285750">
              <a:lnSpc>
                <a:spcPct val="150000"/>
              </a:lnSpc>
              <a:buFont typeface="Wingdings" panose="05000000000000000000" pitchFamily="2" charset="2"/>
              <a:buChar char="v"/>
            </a:pPr>
            <a:r>
              <a:rPr lang="en-US" sz="1600" dirty="0" smtClean="0"/>
              <a:t>Align </a:t>
            </a:r>
            <a:r>
              <a:rPr lang="en-US" sz="1600" dirty="0"/>
              <a:t>academic delivery with Outcome-Based Education (OBE) standards.</a:t>
            </a:r>
            <a:endParaRPr lang="en-US" sz="1600" dirty="0" smtClean="0"/>
          </a:p>
          <a:p>
            <a:pPr>
              <a:lnSpc>
                <a:spcPct val="150000"/>
              </a:lnSpc>
            </a:pPr>
            <a:r>
              <a:rPr lang="en-US" sz="1600" dirty="0" smtClean="0"/>
              <a:t>This </a:t>
            </a:r>
            <a:r>
              <a:rPr lang="en-US" sz="1600" dirty="0"/>
              <a:t>approach ensures enhanced student satisfaction, improved learning outcomes, and continuous academic excellence in the Cost Accounting </a:t>
            </a:r>
            <a:r>
              <a:rPr lang="en-US" sz="1600" dirty="0" smtClean="0"/>
              <a:t>course.</a:t>
            </a: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404036" y="602920"/>
            <a:ext cx="7955913" cy="300847"/>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456838476"/>
              </p:ext>
            </p:extLst>
          </p:nvPr>
        </p:nvGraphicFramePr>
        <p:xfrm>
          <a:off x="318976" y="1041831"/>
          <a:ext cx="8410353" cy="4160520"/>
        </p:xfrm>
        <a:graphic>
          <a:graphicData uri="http://schemas.openxmlformats.org/drawingml/2006/table">
            <a:tbl>
              <a:tblPr firstRow="1" firstCol="1" bandRow="1">
                <a:tableStyleId>{5C22544A-7EE6-4342-B048-85BDC9FD1C3A}</a:tableStyleId>
              </a:tblPr>
              <a:tblGrid>
                <a:gridCol w="1988289">
                  <a:extLst>
                    <a:ext uri="{9D8B030D-6E8A-4147-A177-3AD203B41FA5}">
                      <a16:colId xmlns:a16="http://schemas.microsoft.com/office/drawing/2014/main" val="1898252042"/>
                    </a:ext>
                  </a:extLst>
                </a:gridCol>
                <a:gridCol w="6422064">
                  <a:extLst>
                    <a:ext uri="{9D8B030D-6E8A-4147-A177-3AD203B41FA5}">
                      <a16:colId xmlns:a16="http://schemas.microsoft.com/office/drawing/2014/main" val="3229284159"/>
                    </a:ext>
                  </a:extLst>
                </a:gridCol>
              </a:tblGrid>
              <a:tr h="263125">
                <a:tc>
                  <a:txBody>
                    <a:bodyPr/>
                    <a:lstStyle/>
                    <a:p>
                      <a:pPr marL="0" marR="0" algn="just">
                        <a:lnSpc>
                          <a:spcPct val="150000"/>
                        </a:lnSpc>
                        <a:spcBef>
                          <a:spcPts val="0"/>
                        </a:spcBef>
                        <a:spcAft>
                          <a:spcPts val="0"/>
                        </a:spcAft>
                      </a:pPr>
                      <a:r>
                        <a:rPr lang="en-US" sz="1300" dirty="0">
                          <a:effectLst/>
                        </a:rPr>
                        <a:t>Course </a:t>
                      </a:r>
                      <a:endParaRPr lang="en-US" sz="1300" dirty="0">
                        <a:effectLst/>
                        <a:latin typeface="Arial" panose="020B0604020202020204" pitchFamily="34" charset="0"/>
                        <a:ea typeface="Arial" panose="020B0604020202020204" pitchFamily="34" charset="0"/>
                      </a:endParaRPr>
                    </a:p>
                  </a:txBody>
                  <a:tcPr marL="54372" marR="54372" marT="0" marB="0"/>
                </a:tc>
                <a:tc>
                  <a:txBody>
                    <a:bodyPr/>
                    <a:lstStyle/>
                    <a:p>
                      <a:pPr marL="0" marR="0" algn="just">
                        <a:lnSpc>
                          <a:spcPct val="150000"/>
                        </a:lnSpc>
                        <a:spcBef>
                          <a:spcPts val="0"/>
                        </a:spcBef>
                        <a:spcAft>
                          <a:spcPts val="0"/>
                        </a:spcAft>
                      </a:pPr>
                      <a:r>
                        <a:rPr lang="en-US" sz="1300">
                          <a:effectLst/>
                        </a:rPr>
                        <a:t>Bachelor of Commerce</a:t>
                      </a:r>
                      <a:endParaRPr lang="en-US" sz="130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500586676"/>
                  </a:ext>
                </a:extLst>
              </a:tr>
              <a:tr h="1111413">
                <a:tc>
                  <a:txBody>
                    <a:bodyPr/>
                    <a:lstStyle/>
                    <a:p>
                      <a:pPr marL="0" marR="0" algn="just">
                        <a:lnSpc>
                          <a:spcPct val="150000"/>
                        </a:lnSpc>
                        <a:spcBef>
                          <a:spcPts val="0"/>
                        </a:spcBef>
                        <a:spcAft>
                          <a:spcPts val="0"/>
                        </a:spcAft>
                      </a:pPr>
                      <a:r>
                        <a:rPr lang="en-US" sz="1300" dirty="0">
                          <a:effectLst/>
                        </a:rPr>
                        <a:t>Specialization</a:t>
                      </a:r>
                      <a:endParaRPr lang="en-US" sz="1300" dirty="0">
                        <a:effectLst/>
                        <a:latin typeface="Arial" panose="020B0604020202020204" pitchFamily="34" charset="0"/>
                        <a:ea typeface="Arial" panose="020B0604020202020204" pitchFamily="34" charset="0"/>
                      </a:endParaRPr>
                    </a:p>
                  </a:txBody>
                  <a:tcPr marL="54372" marR="54372" marT="0" marB="0"/>
                </a:tc>
                <a:tc>
                  <a:txBody>
                    <a:bodyPr/>
                    <a:lstStyle/>
                    <a:p>
                      <a:pPr marL="0" marR="0">
                        <a:lnSpc>
                          <a:spcPct val="150000"/>
                        </a:lnSpc>
                        <a:spcBef>
                          <a:spcPts val="0"/>
                        </a:spcBef>
                        <a:spcAft>
                          <a:spcPts val="0"/>
                        </a:spcAft>
                      </a:pPr>
                      <a:r>
                        <a:rPr lang="en-US" sz="1300" b="1" dirty="0" err="1">
                          <a:effectLst/>
                        </a:rPr>
                        <a:t>B.Com</a:t>
                      </a:r>
                      <a:r>
                        <a:rPr lang="en-US" sz="1300" b="1" dirty="0">
                          <a:effectLst/>
                        </a:rPr>
                        <a:t> General </a:t>
                      </a:r>
                    </a:p>
                    <a:p>
                      <a:pPr marL="0" marR="0">
                        <a:lnSpc>
                          <a:spcPct val="150000"/>
                        </a:lnSpc>
                        <a:spcBef>
                          <a:spcPts val="0"/>
                        </a:spcBef>
                        <a:spcAft>
                          <a:spcPts val="0"/>
                        </a:spcAft>
                      </a:pPr>
                      <a:r>
                        <a:rPr lang="en-US" sz="1300" b="1" dirty="0" err="1">
                          <a:effectLst/>
                        </a:rPr>
                        <a:t>B.Com</a:t>
                      </a:r>
                      <a:r>
                        <a:rPr lang="en-US" sz="1300" b="1" dirty="0">
                          <a:effectLst/>
                        </a:rPr>
                        <a:t> Accounting &amp; Finance </a:t>
                      </a:r>
                    </a:p>
                    <a:p>
                      <a:pPr marL="0" marR="0">
                        <a:lnSpc>
                          <a:spcPct val="150000"/>
                        </a:lnSpc>
                        <a:spcBef>
                          <a:spcPts val="0"/>
                        </a:spcBef>
                        <a:spcAft>
                          <a:spcPts val="0"/>
                        </a:spcAft>
                      </a:pPr>
                      <a:r>
                        <a:rPr lang="en-US" sz="1300" b="1" dirty="0" err="1">
                          <a:effectLst/>
                        </a:rPr>
                        <a:t>B.Com</a:t>
                      </a:r>
                      <a:r>
                        <a:rPr lang="en-US" sz="1300" b="1" dirty="0">
                          <a:effectLst/>
                        </a:rPr>
                        <a:t> Computer Applications </a:t>
                      </a:r>
                    </a:p>
                    <a:p>
                      <a:pPr marL="0" marR="0">
                        <a:lnSpc>
                          <a:spcPct val="150000"/>
                        </a:lnSpc>
                        <a:spcBef>
                          <a:spcPts val="0"/>
                        </a:spcBef>
                        <a:spcAft>
                          <a:spcPts val="0"/>
                        </a:spcAft>
                      </a:pPr>
                      <a:r>
                        <a:rPr lang="en-US" sz="1300" b="1" dirty="0" err="1">
                          <a:effectLst/>
                        </a:rPr>
                        <a:t>B.Com</a:t>
                      </a:r>
                      <a:r>
                        <a:rPr lang="en-US" sz="1300" b="1" dirty="0">
                          <a:effectLst/>
                        </a:rPr>
                        <a:t> Corporate </a:t>
                      </a:r>
                      <a:r>
                        <a:rPr lang="en-US" sz="1300" b="1" dirty="0" err="1">
                          <a:effectLst/>
                        </a:rPr>
                        <a:t>Secretaryship</a:t>
                      </a:r>
                      <a:endParaRPr lang="en-US" sz="1300" b="1" dirty="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4068513254"/>
                  </a:ext>
                </a:extLst>
              </a:tr>
              <a:tr h="263125">
                <a:tc>
                  <a:txBody>
                    <a:bodyPr/>
                    <a:lstStyle/>
                    <a:p>
                      <a:pPr marL="0" marR="0" algn="just">
                        <a:lnSpc>
                          <a:spcPct val="150000"/>
                        </a:lnSpc>
                        <a:spcBef>
                          <a:spcPts val="0"/>
                        </a:spcBef>
                        <a:spcAft>
                          <a:spcPts val="0"/>
                        </a:spcAft>
                      </a:pPr>
                      <a:r>
                        <a:rPr lang="en-US" sz="1300">
                          <a:effectLst/>
                        </a:rPr>
                        <a:t>Subject</a:t>
                      </a:r>
                      <a:endParaRPr lang="en-US" sz="1300">
                        <a:effectLst/>
                        <a:latin typeface="Arial" panose="020B0604020202020204" pitchFamily="34" charset="0"/>
                        <a:ea typeface="Arial" panose="020B0604020202020204" pitchFamily="34" charset="0"/>
                      </a:endParaRPr>
                    </a:p>
                  </a:txBody>
                  <a:tcPr marL="54372" marR="54372" marT="0" marB="0"/>
                </a:tc>
                <a:tc>
                  <a:txBody>
                    <a:bodyPr/>
                    <a:lstStyle/>
                    <a:p>
                      <a:pPr marL="0" marR="0">
                        <a:lnSpc>
                          <a:spcPct val="150000"/>
                        </a:lnSpc>
                        <a:spcBef>
                          <a:spcPts val="0"/>
                        </a:spcBef>
                        <a:spcAft>
                          <a:spcPts val="0"/>
                        </a:spcAft>
                      </a:pPr>
                      <a:r>
                        <a:rPr lang="en-US" sz="1300" b="1" dirty="0">
                          <a:effectLst/>
                        </a:rPr>
                        <a:t>Cost Accounting</a:t>
                      </a:r>
                      <a:endParaRPr lang="en-US" sz="1300" b="1" dirty="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811406255"/>
                  </a:ext>
                </a:extLst>
              </a:tr>
              <a:tr h="263125">
                <a:tc>
                  <a:txBody>
                    <a:bodyPr/>
                    <a:lstStyle/>
                    <a:p>
                      <a:pPr marL="0" marR="0" algn="just">
                        <a:lnSpc>
                          <a:spcPct val="150000"/>
                        </a:lnSpc>
                        <a:spcBef>
                          <a:spcPts val="0"/>
                        </a:spcBef>
                        <a:spcAft>
                          <a:spcPts val="0"/>
                        </a:spcAft>
                      </a:pPr>
                      <a:r>
                        <a:rPr lang="en-US" sz="1300">
                          <a:effectLst/>
                        </a:rPr>
                        <a:t>Faculty Name</a:t>
                      </a:r>
                      <a:endParaRPr lang="en-US" sz="1300">
                        <a:effectLst/>
                        <a:latin typeface="Arial" panose="020B0604020202020204" pitchFamily="34" charset="0"/>
                        <a:ea typeface="Arial" panose="020B0604020202020204" pitchFamily="34" charset="0"/>
                      </a:endParaRPr>
                    </a:p>
                  </a:txBody>
                  <a:tcPr marL="54372" marR="54372" marT="0" marB="0"/>
                </a:tc>
                <a:tc>
                  <a:txBody>
                    <a:bodyPr/>
                    <a:lstStyle/>
                    <a:p>
                      <a:pPr marL="0" marR="0">
                        <a:lnSpc>
                          <a:spcPct val="150000"/>
                        </a:lnSpc>
                        <a:spcBef>
                          <a:spcPts val="0"/>
                        </a:spcBef>
                        <a:spcAft>
                          <a:spcPts val="0"/>
                        </a:spcAft>
                      </a:pPr>
                      <a:r>
                        <a:rPr lang="en-US" sz="1300" b="1" dirty="0">
                          <a:effectLst/>
                        </a:rPr>
                        <a:t>Prof. </a:t>
                      </a:r>
                      <a:r>
                        <a:rPr lang="en-US" sz="1300" b="1" dirty="0" err="1">
                          <a:effectLst/>
                        </a:rPr>
                        <a:t>Meena</a:t>
                      </a:r>
                      <a:r>
                        <a:rPr lang="en-US" sz="1300" b="1" dirty="0">
                          <a:effectLst/>
                        </a:rPr>
                        <a:t>,  Prof. Kumar, Prof. Seetha,  Prof. Suresh</a:t>
                      </a:r>
                      <a:endParaRPr lang="en-US" sz="1300" b="1" dirty="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1266734987"/>
                  </a:ext>
                </a:extLst>
              </a:tr>
              <a:tr h="263125">
                <a:tc>
                  <a:txBody>
                    <a:bodyPr/>
                    <a:lstStyle/>
                    <a:p>
                      <a:pPr marL="0" marR="0" algn="just">
                        <a:lnSpc>
                          <a:spcPct val="150000"/>
                        </a:lnSpc>
                        <a:spcBef>
                          <a:spcPts val="0"/>
                        </a:spcBef>
                        <a:spcAft>
                          <a:spcPts val="0"/>
                        </a:spcAft>
                      </a:pPr>
                      <a:r>
                        <a:rPr lang="en-US" sz="1300">
                          <a:effectLst/>
                        </a:rPr>
                        <a:t>Total Student Responses</a:t>
                      </a:r>
                      <a:endParaRPr lang="en-US" sz="1300">
                        <a:effectLst/>
                        <a:latin typeface="Arial" panose="020B0604020202020204" pitchFamily="34" charset="0"/>
                        <a:ea typeface="Arial" panose="020B0604020202020204" pitchFamily="34" charset="0"/>
                      </a:endParaRPr>
                    </a:p>
                  </a:txBody>
                  <a:tcPr marL="54372" marR="54372" marT="0" marB="0"/>
                </a:tc>
                <a:tc>
                  <a:txBody>
                    <a:bodyPr/>
                    <a:lstStyle/>
                    <a:p>
                      <a:pPr marL="0" marR="0">
                        <a:lnSpc>
                          <a:spcPct val="150000"/>
                        </a:lnSpc>
                        <a:spcBef>
                          <a:spcPts val="0"/>
                        </a:spcBef>
                        <a:spcAft>
                          <a:spcPts val="0"/>
                        </a:spcAft>
                      </a:pPr>
                      <a:r>
                        <a:rPr lang="en-US" sz="1300" b="1" dirty="0">
                          <a:effectLst/>
                        </a:rPr>
                        <a:t>500</a:t>
                      </a:r>
                      <a:endParaRPr lang="en-US" sz="1300" b="1" dirty="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4135248435"/>
                  </a:ext>
                </a:extLst>
              </a:tr>
              <a:tr h="263125">
                <a:tc>
                  <a:txBody>
                    <a:bodyPr/>
                    <a:lstStyle/>
                    <a:p>
                      <a:pPr marL="0" marR="0" algn="just">
                        <a:lnSpc>
                          <a:spcPct val="150000"/>
                        </a:lnSpc>
                        <a:spcBef>
                          <a:spcPts val="0"/>
                        </a:spcBef>
                        <a:spcAft>
                          <a:spcPts val="0"/>
                        </a:spcAft>
                      </a:pPr>
                      <a:r>
                        <a:rPr lang="en-US" sz="1300">
                          <a:effectLst/>
                        </a:rPr>
                        <a:t>Actual Responses</a:t>
                      </a:r>
                      <a:endParaRPr lang="en-US" sz="1300">
                        <a:effectLst/>
                        <a:latin typeface="Arial" panose="020B0604020202020204" pitchFamily="34" charset="0"/>
                        <a:ea typeface="Arial" panose="020B0604020202020204" pitchFamily="34" charset="0"/>
                      </a:endParaRPr>
                    </a:p>
                  </a:txBody>
                  <a:tcPr marL="54372" marR="54372" marT="0" marB="0"/>
                </a:tc>
                <a:tc>
                  <a:txBody>
                    <a:bodyPr/>
                    <a:lstStyle/>
                    <a:p>
                      <a:pPr marL="0" marR="0">
                        <a:lnSpc>
                          <a:spcPct val="150000"/>
                        </a:lnSpc>
                        <a:spcBef>
                          <a:spcPts val="0"/>
                        </a:spcBef>
                        <a:spcAft>
                          <a:spcPts val="0"/>
                        </a:spcAft>
                      </a:pPr>
                      <a:r>
                        <a:rPr lang="en-US" sz="1300" b="1" dirty="0">
                          <a:effectLst/>
                        </a:rPr>
                        <a:t>480</a:t>
                      </a:r>
                      <a:endParaRPr lang="en-US" sz="1300" b="1" dirty="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95522726"/>
                  </a:ext>
                </a:extLst>
              </a:tr>
              <a:tr h="611221">
                <a:tc>
                  <a:txBody>
                    <a:bodyPr/>
                    <a:lstStyle/>
                    <a:p>
                      <a:pPr marL="0" marR="0" algn="just">
                        <a:lnSpc>
                          <a:spcPct val="150000"/>
                        </a:lnSpc>
                        <a:spcBef>
                          <a:spcPts val="0"/>
                        </a:spcBef>
                        <a:spcAft>
                          <a:spcPts val="0"/>
                        </a:spcAft>
                      </a:pPr>
                      <a:r>
                        <a:rPr lang="en-US" sz="1300">
                          <a:effectLst/>
                        </a:rPr>
                        <a:t>Feedback Variables</a:t>
                      </a:r>
                      <a:endParaRPr lang="en-US" sz="1300">
                        <a:effectLst/>
                        <a:latin typeface="Arial" panose="020B0604020202020204" pitchFamily="34" charset="0"/>
                        <a:ea typeface="Arial" panose="020B0604020202020204" pitchFamily="34" charset="0"/>
                      </a:endParaRPr>
                    </a:p>
                  </a:txBody>
                  <a:tcPr marL="54372" marR="54372" marT="0" marB="0"/>
                </a:tc>
                <a:tc>
                  <a:txBody>
                    <a:bodyPr/>
                    <a:lstStyle/>
                    <a:p>
                      <a:pPr marL="0" marR="0">
                        <a:lnSpc>
                          <a:spcPct val="150000"/>
                        </a:lnSpc>
                        <a:spcBef>
                          <a:spcPts val="0"/>
                        </a:spcBef>
                        <a:spcAft>
                          <a:spcPts val="0"/>
                        </a:spcAft>
                      </a:pPr>
                      <a:r>
                        <a:rPr lang="en-US" sz="1300" b="1" dirty="0">
                          <a:effectLst/>
                        </a:rPr>
                        <a:t>Syllabus Coverage and Preparation, Communication and Methodology, Assessment and Feedback, Growth and Opportunities, Teaching Support and Engagement Skills and Employability</a:t>
                      </a:r>
                      <a:endParaRPr lang="en-US" sz="1300" b="1" dirty="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3743341377"/>
                  </a:ext>
                </a:extLst>
              </a:tr>
              <a:tr h="540340">
                <a:tc>
                  <a:txBody>
                    <a:bodyPr/>
                    <a:lstStyle/>
                    <a:p>
                      <a:pPr marL="0" marR="0" algn="just">
                        <a:lnSpc>
                          <a:spcPct val="150000"/>
                        </a:lnSpc>
                        <a:spcBef>
                          <a:spcPts val="0"/>
                        </a:spcBef>
                        <a:spcAft>
                          <a:spcPts val="0"/>
                        </a:spcAft>
                      </a:pPr>
                      <a:r>
                        <a:rPr lang="en-US" sz="1300">
                          <a:effectLst/>
                        </a:rPr>
                        <a:t>Analytics</a:t>
                      </a:r>
                      <a:endParaRPr lang="en-US" sz="1300">
                        <a:effectLst/>
                        <a:latin typeface="Arial" panose="020B0604020202020204" pitchFamily="34" charset="0"/>
                        <a:ea typeface="Arial" panose="020B0604020202020204" pitchFamily="34" charset="0"/>
                      </a:endParaRPr>
                    </a:p>
                  </a:txBody>
                  <a:tcPr marL="54372" marR="54372" marT="0" marB="0"/>
                </a:tc>
                <a:tc>
                  <a:txBody>
                    <a:bodyPr/>
                    <a:lstStyle/>
                    <a:p>
                      <a:pPr marL="0" marR="0">
                        <a:lnSpc>
                          <a:spcPct val="150000"/>
                        </a:lnSpc>
                        <a:spcBef>
                          <a:spcPts val="0"/>
                        </a:spcBef>
                        <a:spcAft>
                          <a:spcPts val="0"/>
                        </a:spcAft>
                      </a:pPr>
                      <a:r>
                        <a:rPr lang="en-US" sz="1300" b="1" dirty="0">
                          <a:effectLst/>
                        </a:rPr>
                        <a:t>Likert Scale</a:t>
                      </a:r>
                    </a:p>
                    <a:p>
                      <a:pPr marL="0" marR="0">
                        <a:lnSpc>
                          <a:spcPct val="150000"/>
                        </a:lnSpc>
                        <a:spcBef>
                          <a:spcPts val="0"/>
                        </a:spcBef>
                        <a:spcAft>
                          <a:spcPts val="0"/>
                        </a:spcAft>
                      </a:pPr>
                      <a:r>
                        <a:rPr lang="en-US" sz="1300" b="1" dirty="0">
                          <a:effectLst/>
                        </a:rPr>
                        <a:t>Rating Scores</a:t>
                      </a:r>
                      <a:endParaRPr lang="en-US" sz="1300" b="1" dirty="0">
                        <a:effectLst/>
                        <a:latin typeface="Arial" panose="020B0604020202020204" pitchFamily="34" charset="0"/>
                        <a:ea typeface="Arial" panose="020B0604020202020204" pitchFamily="34" charset="0"/>
                      </a:endParaRPr>
                    </a:p>
                  </a:txBody>
                  <a:tcPr marL="54372" marR="54372" marT="0" marB="0"/>
                </a:tc>
                <a:extLst>
                  <a:ext uri="{0D108BD9-81ED-4DB2-BD59-A6C34878D82A}">
                    <a16:rowId xmlns:a16="http://schemas.microsoft.com/office/drawing/2014/main" val="1788681694"/>
                  </a:ext>
                </a:extLst>
              </a:tr>
            </a:tbl>
          </a:graphicData>
        </a:graphic>
      </p:graphicFrame>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pic>
        <p:nvPicPr>
          <p:cNvPr id="5" name="Picture 4"/>
          <p:cNvPicPr>
            <a:picLocks noChangeAspect="1"/>
          </p:cNvPicPr>
          <p:nvPr/>
        </p:nvPicPr>
        <p:blipFill>
          <a:blip r:embed="rId4"/>
          <a:stretch>
            <a:fillRect/>
          </a:stretch>
        </p:blipFill>
        <p:spPr>
          <a:xfrm>
            <a:off x="478465" y="1169581"/>
            <a:ext cx="7732629" cy="3721395"/>
          </a:xfrm>
          <a:prstGeom prst="rect">
            <a:avLst/>
          </a:prstGeom>
        </p:spPr>
      </p:pic>
    </p:spTree>
    <p:custDataLst>
      <p:tags r:id="rId1"/>
    </p:custDataLst>
    <p:extLst>
      <p:ext uri="{BB962C8B-B14F-4D97-AF65-F5344CB8AC3E}">
        <p14:creationId xmlns:p14="http://schemas.microsoft.com/office/powerpoint/2010/main" val="39218962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pic>
        <p:nvPicPr>
          <p:cNvPr id="3" name="Picture 2"/>
          <p:cNvPicPr>
            <a:picLocks noChangeAspect="1"/>
          </p:cNvPicPr>
          <p:nvPr/>
        </p:nvPicPr>
        <p:blipFill>
          <a:blip r:embed="rId4"/>
          <a:stretch>
            <a:fillRect/>
          </a:stretch>
        </p:blipFill>
        <p:spPr>
          <a:xfrm>
            <a:off x="438024" y="1206139"/>
            <a:ext cx="7823473" cy="1366939"/>
          </a:xfrm>
          <a:prstGeom prst="rect">
            <a:avLst/>
          </a:prstGeom>
        </p:spPr>
      </p:pic>
      <p:pic>
        <p:nvPicPr>
          <p:cNvPr id="5" name="Picture 4"/>
          <p:cNvPicPr>
            <a:picLocks noChangeAspect="1"/>
          </p:cNvPicPr>
          <p:nvPr/>
        </p:nvPicPr>
        <p:blipFill>
          <a:blip r:embed="rId5"/>
          <a:stretch>
            <a:fillRect/>
          </a:stretch>
        </p:blipFill>
        <p:spPr>
          <a:xfrm>
            <a:off x="661309" y="2682293"/>
            <a:ext cx="8046755" cy="2033016"/>
          </a:xfrm>
          <a:prstGeom prst="rect">
            <a:avLst/>
          </a:prstGeom>
        </p:spPr>
      </p:pic>
    </p:spTree>
    <p:custDataLst>
      <p:tags r:id="rId1"/>
    </p:custDataLst>
    <p:extLst>
      <p:ext uri="{BB962C8B-B14F-4D97-AF65-F5344CB8AC3E}">
        <p14:creationId xmlns:p14="http://schemas.microsoft.com/office/powerpoint/2010/main" val="820391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pic>
        <p:nvPicPr>
          <p:cNvPr id="2" name="Picture 1"/>
          <p:cNvPicPr>
            <a:picLocks noChangeAspect="1"/>
          </p:cNvPicPr>
          <p:nvPr/>
        </p:nvPicPr>
        <p:blipFill>
          <a:blip r:embed="rId4"/>
          <a:stretch>
            <a:fillRect/>
          </a:stretch>
        </p:blipFill>
        <p:spPr>
          <a:xfrm>
            <a:off x="393405" y="1232915"/>
            <a:ext cx="8250865" cy="3626163"/>
          </a:xfrm>
          <a:prstGeom prst="rect">
            <a:avLst/>
          </a:prstGeom>
        </p:spPr>
      </p:pic>
    </p:spTree>
    <p:custDataLst>
      <p:tags r:id="rId1"/>
    </p:custDataLst>
    <p:extLst>
      <p:ext uri="{BB962C8B-B14F-4D97-AF65-F5344CB8AC3E}">
        <p14:creationId xmlns:p14="http://schemas.microsoft.com/office/powerpoint/2010/main" val="2820470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30350" y="602920"/>
            <a:ext cx="8229600" cy="290215"/>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2" name="Rectangle 1"/>
          <p:cNvSpPr/>
          <p:nvPr/>
        </p:nvSpPr>
        <p:spPr>
          <a:xfrm>
            <a:off x="563526" y="967562"/>
            <a:ext cx="5624623" cy="3831818"/>
          </a:xfrm>
          <a:prstGeom prst="rect">
            <a:avLst/>
          </a:prstGeom>
        </p:spPr>
        <p:txBody>
          <a:bodyPr wrap="square">
            <a:spAutoFit/>
          </a:bodyPr>
          <a:lstStyle/>
          <a:p>
            <a:pPr>
              <a:lnSpc>
                <a:spcPct val="150000"/>
              </a:lnSpc>
            </a:pPr>
            <a:r>
              <a:rPr lang="en-US" b="1" dirty="0">
                <a:latin typeface="Times New Roman" panose="02020603050405020304" pitchFamily="18" charset="0"/>
                <a:ea typeface="Times New Roman" panose="02020603050405020304" pitchFamily="18" charset="0"/>
              </a:rPr>
              <a:t> Dash Board Components </a:t>
            </a:r>
            <a:r>
              <a:rPr lang="en-US" b="1" dirty="0" smtClean="0">
                <a:latin typeface="Times New Roman" panose="02020603050405020304" pitchFamily="18" charset="0"/>
                <a:ea typeface="Times New Roman" panose="02020603050405020304" pitchFamily="18" charset="0"/>
              </a:rPr>
              <a:t>–EXCEL &amp;POWER BI</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Syllabus coverage and Preparation Pulse</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Communication and Teaching Methodology Pulse</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Assessment and Feedback-performance Matrix</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Teaching Excellence Analytics </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Student Feedback Analytics</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Faculty Performance-Leader Board</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Teaching Learning Outcomes</a:t>
            </a:r>
            <a:endParaRPr lang="en-US" sz="1600" dirty="0">
              <a:latin typeface="Arial" panose="020B0604020202020204" pitchFamily="34" charset="0"/>
              <a:ea typeface="Arial" panose="020B0604020202020204" pitchFamily="34" charset="0"/>
            </a:endParaRPr>
          </a:p>
          <a:p>
            <a:pPr marL="342900" marR="0" lvl="0" indent="-342900">
              <a:lnSpc>
                <a:spcPct val="150000"/>
              </a:lnSpc>
              <a:spcBef>
                <a:spcPts val="0"/>
              </a:spcBef>
              <a:spcAft>
                <a:spcPts val="0"/>
              </a:spcAft>
              <a:buFont typeface="Wingdings" panose="05000000000000000000" pitchFamily="2" charset="2"/>
              <a:buChar char=""/>
            </a:pPr>
            <a:r>
              <a:rPr lang="en-US" dirty="0">
                <a:latin typeface="Times New Roman" panose="02020603050405020304" pitchFamily="18" charset="0"/>
                <a:ea typeface="Times New Roman" panose="02020603050405020304" pitchFamily="18" charset="0"/>
              </a:rPr>
              <a:t>Faculty Rating Validation</a:t>
            </a:r>
            <a:endParaRPr lang="en-US" dirty="0"/>
          </a:p>
        </p:txBody>
      </p:sp>
    </p:spTree>
    <p:custDataLst>
      <p:tags r:id="rId1"/>
    </p:custDataLst>
    <p:extLst>
      <p:ext uri="{BB962C8B-B14F-4D97-AF65-F5344CB8AC3E}">
        <p14:creationId xmlns:p14="http://schemas.microsoft.com/office/powerpoint/2010/main" val="1383914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pic>
        <p:nvPicPr>
          <p:cNvPr id="2" name="Picture 1"/>
          <p:cNvPicPr>
            <a:picLocks noChangeAspect="1"/>
          </p:cNvPicPr>
          <p:nvPr/>
        </p:nvPicPr>
        <p:blipFill>
          <a:blip r:embed="rId4"/>
          <a:stretch>
            <a:fillRect/>
          </a:stretch>
        </p:blipFill>
        <p:spPr>
          <a:xfrm>
            <a:off x="280112" y="1152713"/>
            <a:ext cx="4206828" cy="3674467"/>
          </a:xfrm>
          <a:prstGeom prst="rect">
            <a:avLst/>
          </a:prstGeom>
        </p:spPr>
      </p:pic>
      <p:pic>
        <p:nvPicPr>
          <p:cNvPr id="3" name="Picture 2"/>
          <p:cNvPicPr>
            <a:picLocks noChangeAspect="1"/>
          </p:cNvPicPr>
          <p:nvPr/>
        </p:nvPicPr>
        <p:blipFill>
          <a:blip r:embed="rId5"/>
          <a:stretch>
            <a:fillRect/>
          </a:stretch>
        </p:blipFill>
        <p:spPr>
          <a:xfrm>
            <a:off x="4922873" y="1152714"/>
            <a:ext cx="3859619" cy="3674466"/>
          </a:xfrm>
          <a:prstGeom prst="rect">
            <a:avLst/>
          </a:prstGeom>
        </p:spPr>
      </p:pic>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pic>
        <p:nvPicPr>
          <p:cNvPr id="5" name="Picture 4" descr="D:\New folder-AICW Project\Final Presentation\Report Figures\Screenshot (522).png"/>
          <p:cNvPicPr/>
          <p:nvPr/>
        </p:nvPicPr>
        <p:blipFill>
          <a:blip r:embed="rId4">
            <a:extLst>
              <a:ext uri="{28A0092B-C50C-407E-A947-70E740481C1C}">
                <a14:useLocalDpi xmlns:a14="http://schemas.microsoft.com/office/drawing/2010/main" val="0"/>
              </a:ext>
            </a:extLst>
          </a:blip>
          <a:srcRect/>
          <a:stretch>
            <a:fillRect/>
          </a:stretch>
        </p:blipFill>
        <p:spPr bwMode="auto">
          <a:xfrm>
            <a:off x="291488" y="1078298"/>
            <a:ext cx="7887870" cy="3689497"/>
          </a:xfrm>
          <a:prstGeom prst="rect">
            <a:avLst/>
          </a:prstGeom>
          <a:noFill/>
          <a:ln>
            <a:noFill/>
          </a:ln>
        </p:spPr>
      </p:pic>
    </p:spTree>
    <p:custDataLst>
      <p:tags r:id="rId1"/>
    </p:custDataLst>
    <p:extLst>
      <p:ext uri="{BB962C8B-B14F-4D97-AF65-F5344CB8AC3E}">
        <p14:creationId xmlns:p14="http://schemas.microsoft.com/office/powerpoint/2010/main" val="16168372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pic>
        <p:nvPicPr>
          <p:cNvPr id="5" name="Picture 4" descr="D:\New folder-AICW Project\Final Presentation\Report Figures\Screenshot (523).png"/>
          <p:cNvPicPr/>
          <p:nvPr/>
        </p:nvPicPr>
        <p:blipFill>
          <a:blip r:embed="rId4">
            <a:extLst>
              <a:ext uri="{28A0092B-C50C-407E-A947-70E740481C1C}">
                <a14:useLocalDpi xmlns:a14="http://schemas.microsoft.com/office/drawing/2010/main" val="0"/>
              </a:ext>
            </a:extLst>
          </a:blip>
          <a:srcRect/>
          <a:stretch>
            <a:fillRect/>
          </a:stretch>
        </p:blipFill>
        <p:spPr bwMode="auto">
          <a:xfrm>
            <a:off x="361507" y="1046210"/>
            <a:ext cx="8431619" cy="3791604"/>
          </a:xfrm>
          <a:prstGeom prst="rect">
            <a:avLst/>
          </a:prstGeom>
          <a:noFill/>
          <a:ln>
            <a:noFill/>
          </a:ln>
        </p:spPr>
      </p:pic>
    </p:spTree>
    <p:custDataLst>
      <p:tags r:id="rId1"/>
    </p:custDataLst>
    <p:extLst>
      <p:ext uri="{BB962C8B-B14F-4D97-AF65-F5344CB8AC3E}">
        <p14:creationId xmlns:p14="http://schemas.microsoft.com/office/powerpoint/2010/main" val="1299440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smtClean="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pic>
        <p:nvPicPr>
          <p:cNvPr id="6" name="Picture 5" descr="D:\New folder-AICW Project\Final Presentation\Report Figures\Screenshot (518).png"/>
          <p:cNvPicPr/>
          <p:nvPr/>
        </p:nvPicPr>
        <p:blipFill>
          <a:blip r:embed="rId4">
            <a:extLst>
              <a:ext uri="{28A0092B-C50C-407E-A947-70E740481C1C}">
                <a14:useLocalDpi xmlns:a14="http://schemas.microsoft.com/office/drawing/2010/main" val="0"/>
              </a:ext>
            </a:extLst>
          </a:blip>
          <a:srcRect/>
          <a:stretch>
            <a:fillRect/>
          </a:stretch>
        </p:blipFill>
        <p:spPr bwMode="auto">
          <a:xfrm>
            <a:off x="527751" y="1046210"/>
            <a:ext cx="7710993" cy="3659552"/>
          </a:xfrm>
          <a:prstGeom prst="rect">
            <a:avLst/>
          </a:prstGeom>
          <a:noFill/>
          <a:ln>
            <a:noFill/>
          </a:ln>
        </p:spPr>
      </p:pic>
    </p:spTree>
    <p:custDataLst>
      <p:tags r:id="rId1"/>
    </p:custDataLst>
    <p:extLst>
      <p:ext uri="{BB962C8B-B14F-4D97-AF65-F5344CB8AC3E}">
        <p14:creationId xmlns:p14="http://schemas.microsoft.com/office/powerpoint/2010/main" val="8061171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pic>
        <p:nvPicPr>
          <p:cNvPr id="2" name="Picture 1"/>
          <p:cNvPicPr>
            <a:picLocks noChangeAspect="1"/>
          </p:cNvPicPr>
          <p:nvPr/>
        </p:nvPicPr>
        <p:blipFill>
          <a:blip r:embed="rId4"/>
          <a:stretch>
            <a:fillRect/>
          </a:stretch>
        </p:blipFill>
        <p:spPr>
          <a:xfrm>
            <a:off x="120623" y="1193934"/>
            <a:ext cx="8938317" cy="3473759"/>
          </a:xfrm>
          <a:prstGeom prst="rect">
            <a:avLst/>
          </a:prstGeom>
        </p:spPr>
      </p:pic>
    </p:spTree>
    <p:custDataLst>
      <p:tags r:id="rId1"/>
    </p:custDataLst>
    <p:extLst>
      <p:ext uri="{BB962C8B-B14F-4D97-AF65-F5344CB8AC3E}">
        <p14:creationId xmlns:p14="http://schemas.microsoft.com/office/powerpoint/2010/main" val="25614011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270438"/>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6496494" y="1250292"/>
            <a:ext cx="2743842" cy="3309355"/>
          </a:xfrm>
          <a:prstGeom prst="rect">
            <a:avLst/>
          </a:prstGeom>
        </p:spPr>
      </p:pic>
      <p:sp>
        <p:nvSpPr>
          <p:cNvPr id="3" name="Rectangle 2"/>
          <p:cNvSpPr/>
          <p:nvPr/>
        </p:nvSpPr>
        <p:spPr>
          <a:xfrm>
            <a:off x="125486" y="1050976"/>
            <a:ext cx="6711250" cy="3647152"/>
          </a:xfrm>
          <a:prstGeom prst="rect">
            <a:avLst/>
          </a:prstGeom>
        </p:spPr>
        <p:txBody>
          <a:bodyPr wrap="square">
            <a:spAutoFit/>
          </a:bodyPr>
          <a:lstStyle/>
          <a:p>
            <a:pPr>
              <a:lnSpc>
                <a:spcPct val="150000"/>
              </a:lnSpc>
            </a:pPr>
            <a:r>
              <a:rPr lang="en-US" sz="1400" dirty="0"/>
              <a:t>The project provides a comprehensive evaluation of student feedback on the Cost Accounting course through a structured, data-driven approach using Likert-scale analysis, composite indices, and comparative faculty assessment. The findings indicate an overall satisfactory level of student perception, with consistent performance across key dimensions such as syllabus coverage, teaching effectiveness, assessment practices, and skill development. However, the presence of moderate and neutral responses highlights the need for targeted improvements in engagement strategies, practical exposure, and feedback mechanisms.</a:t>
            </a:r>
          </a:p>
          <a:p>
            <a:pPr>
              <a:lnSpc>
                <a:spcPct val="150000"/>
              </a:lnSpc>
            </a:pPr>
            <a:r>
              <a:rPr lang="en-US" sz="1400" dirty="0"/>
              <a:t>By integrating analytical tools, dashboard visualization, and AI-assisted insight extraction, </a:t>
            </a:r>
            <a:r>
              <a:rPr lang="en-US" sz="1400" dirty="0" smtClean="0"/>
              <a:t>the </a:t>
            </a:r>
            <a:r>
              <a:rPr lang="en-US" sz="1400" dirty="0"/>
              <a:t>project contributes to strengthening academic delivery and ensuring alignment with evolving student expectations and industry requirements.</a:t>
            </a:r>
            <a:endParaRPr lang="en-US" sz="1400" dirty="0"/>
          </a:p>
        </p:txBody>
      </p:sp>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320041" y="1188430"/>
            <a:ext cx="4114800"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26642" y="1188430"/>
            <a:ext cx="2987748" cy="3384274"/>
          </a:xfrm>
          <a:prstGeom prst="rect">
            <a:avLst/>
          </a:prstGeom>
        </p:spPr>
      </p:pic>
      <p:sp>
        <p:nvSpPr>
          <p:cNvPr id="3" name="Rectangle 2"/>
          <p:cNvSpPr/>
          <p:nvPr/>
        </p:nvSpPr>
        <p:spPr>
          <a:xfrm>
            <a:off x="320041" y="1188430"/>
            <a:ext cx="5729886" cy="3647152"/>
          </a:xfrm>
          <a:prstGeom prst="rect">
            <a:avLst/>
          </a:prstGeom>
        </p:spPr>
        <p:txBody>
          <a:bodyPr wrap="square">
            <a:spAutoFit/>
          </a:bodyPr>
          <a:lstStyle/>
          <a:p>
            <a:pPr algn="just">
              <a:lnSpc>
                <a:spcPct val="150000"/>
              </a:lnSpc>
              <a:spcBef>
                <a:spcPts val="1400"/>
              </a:spcBef>
              <a:spcAft>
                <a:spcPts val="600"/>
              </a:spcAft>
            </a:pPr>
            <a:r>
              <a:rPr lang="en-IN" sz="1400" dirty="0">
                <a:latin typeface="Times New Roman" panose="02020603050405020304" pitchFamily="18" charset="0"/>
                <a:ea typeface="Arial" panose="020B0604020202020204" pitchFamily="34" charset="0"/>
              </a:rPr>
              <a:t>In the next phase, this project can be expanded by integrating qualitative feedback </a:t>
            </a:r>
            <a:r>
              <a:rPr lang="en-IN" sz="1400" dirty="0" smtClean="0">
                <a:latin typeface="Times New Roman" panose="02020603050405020304" pitchFamily="18" charset="0"/>
                <a:ea typeface="Arial" panose="020B0604020202020204" pitchFamily="34" charset="0"/>
              </a:rPr>
              <a:t>analysis </a:t>
            </a:r>
            <a:r>
              <a:rPr lang="en-IN" sz="1400" dirty="0">
                <a:latin typeface="Times New Roman" panose="02020603050405020304" pitchFamily="18" charset="0"/>
                <a:ea typeface="Arial" panose="020B0604020202020204" pitchFamily="34" charset="0"/>
              </a:rPr>
              <a:t>alongside quantitative ratings to capture richer insights. Incorporating predictive analytics in Power BI could help forecast satisfaction trends and identify at-risk themes before they decline. Another enhancement would be to connect the dashboard with real-time data sources (such as ongoing surveys or LMS platforms) so faculty and coordinators can monitor feedback continuously rather than at the end of a </a:t>
            </a:r>
            <a:r>
              <a:rPr lang="en-IN" sz="1400" dirty="0" err="1" smtClean="0">
                <a:latin typeface="Times New Roman" panose="02020603050405020304" pitchFamily="18" charset="0"/>
                <a:ea typeface="Arial" panose="020B0604020202020204" pitchFamily="34" charset="0"/>
              </a:rPr>
              <a:t>term.Building</a:t>
            </a:r>
            <a:r>
              <a:rPr lang="en-IN" sz="1400" dirty="0" smtClean="0">
                <a:latin typeface="Times New Roman" panose="02020603050405020304" pitchFamily="18" charset="0"/>
                <a:ea typeface="Arial" panose="020B0604020202020204" pitchFamily="34" charset="0"/>
              </a:rPr>
              <a:t> </a:t>
            </a:r>
            <a:r>
              <a:rPr lang="en-IN" sz="1400" dirty="0">
                <a:latin typeface="Times New Roman" panose="02020603050405020304" pitchFamily="18" charset="0"/>
                <a:ea typeface="Arial" panose="020B0604020202020204" pitchFamily="34" charset="0"/>
              </a:rPr>
              <a:t>faculty development recommendation modules—where AI suggests targeted training or interventions based on weak areas—would make the system more </a:t>
            </a:r>
            <a:r>
              <a:rPr lang="en-IN" sz="1400" dirty="0" smtClean="0">
                <a:latin typeface="Times New Roman" panose="02020603050405020304" pitchFamily="18" charset="0"/>
                <a:ea typeface="Arial" panose="020B0604020202020204" pitchFamily="34" charset="0"/>
              </a:rPr>
              <a:t>actionable and establish </a:t>
            </a:r>
            <a:r>
              <a:rPr lang="en-IN" sz="1400" dirty="0">
                <a:latin typeface="Times New Roman" panose="02020603050405020304" pitchFamily="18" charset="0"/>
                <a:ea typeface="Arial" panose="020B0604020202020204" pitchFamily="34" charset="0"/>
              </a:rPr>
              <a:t>a standardized feedback ecosystem that supports broader educational innovation and student empowerment.</a:t>
            </a:r>
            <a:endParaRPr lang="en-US" sz="1400" dirty="0">
              <a:effectLst/>
              <a:latin typeface="Arial" panose="020B0604020202020204" pitchFamily="34" charset="0"/>
              <a:ea typeface="Arial" panose="020B0604020202020204" pitchFamily="34" charset="0"/>
            </a:endParaRPr>
          </a:p>
        </p:txBody>
      </p:sp>
    </p:spTree>
    <p:custDataLst>
      <p:tags r:id="rId1"/>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269</TotalTime>
  <Words>768</Words>
  <Application>Microsoft Office PowerPoint</Application>
  <PresentationFormat>On-screen Show (16:9)</PresentationFormat>
  <Paragraphs>98</Paragraphs>
  <Slides>18</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vt:i4>
      </vt:variant>
    </vt:vector>
  </HeadingPairs>
  <TitlesOfParts>
    <vt:vector size="27" baseType="lpstr">
      <vt:lpstr>Aileron</vt:lpstr>
      <vt:lpstr>Aileron Bold</vt:lpstr>
      <vt:lpstr>Aileron Ultra-Bold</vt:lpstr>
      <vt:lpstr>Arial</vt:lpstr>
      <vt:lpstr>Calibri</vt:lpstr>
      <vt:lpstr>Lato</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ADMIN</cp:lastModifiedBy>
  <cp:revision>39</cp:revision>
  <dcterms:created xsi:type="dcterms:W3CDTF">2026-02-18T09:17:23Z</dcterms:created>
  <dcterms:modified xsi:type="dcterms:W3CDTF">2026-04-05T20:56:32Z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