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comments/comment1.xml" ContentType="application/vnd.openxmlformats-officedocument.presentationml.comments+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68" r:id="rId2"/>
    <p:sldId id="285" r:id="rId3"/>
    <p:sldId id="257" r:id="rId4"/>
    <p:sldId id="258" r:id="rId5"/>
    <p:sldId id="286" r:id="rId6"/>
    <p:sldId id="260" r:id="rId7"/>
    <p:sldId id="288" r:id="rId8"/>
    <p:sldId id="289" r:id="rId9"/>
    <p:sldId id="290" r:id="rId10"/>
    <p:sldId id="295" r:id="rId11"/>
    <p:sldId id="296" r:id="rId12"/>
    <p:sldId id="297" r:id="rId13"/>
    <p:sldId id="291" r:id="rId14"/>
    <p:sldId id="298" r:id="rId15"/>
    <p:sldId id="299" r:id="rId16"/>
    <p:sldId id="292" r:id="rId17"/>
    <p:sldId id="301" r:id="rId18"/>
    <p:sldId id="302" r:id="rId19"/>
    <p:sldId id="307" r:id="rId20"/>
    <p:sldId id="306" r:id="rId21"/>
    <p:sldId id="272" r:id="rId22"/>
    <p:sldId id="276" r:id="rId23"/>
    <p:sldId id="310" r:id="rId24"/>
    <p:sldId id="311" r:id="rId25"/>
    <p:sldId id="317" r:id="rId26"/>
    <p:sldId id="313" r:id="rId27"/>
    <p:sldId id="314" r:id="rId28"/>
    <p:sldId id="316" r:id="rId29"/>
    <p:sldId id="320" r:id="rId30"/>
    <p:sldId id="318" r:id="rId31"/>
    <p:sldId id="262" r:id="rId32"/>
    <p:sldId id="319" r:id="rId33"/>
    <p:sldId id="312" r:id="rId34"/>
    <p:sldId id="321" r:id="rId35"/>
    <p:sldId id="322" r:id="rId36"/>
    <p:sldId id="264" r:id="rId37"/>
    <p:sldId id="265" r:id="rId38"/>
    <p:sldId id="266" r:id="rId39"/>
  </p:sldIdLst>
  <p:sldSz cx="9144000" cy="5143500" type="screen16x9"/>
  <p:notesSz cx="5143500" cy="9144000"/>
  <p:custDataLst>
    <p:tags r:id="rId41"/>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0d59aa765ab963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E3FA"/>
    <a:srgbClr val="1565C0"/>
    <a:srgbClr val="F9C1FA"/>
    <a:srgbClr val="FDF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957" autoAdjust="0"/>
  </p:normalViewPr>
  <p:slideViewPr>
    <p:cSldViewPr snapToGrid="0" snapToObjects="1">
      <p:cViewPr varScale="1">
        <p:scale>
          <a:sx n="85" d="100"/>
          <a:sy n="85" d="100"/>
        </p:scale>
        <p:origin x="612" y="60"/>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14T14:13:06.878" idx="1">
    <p:pos x="5760" y="556"/>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31801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57291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645164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731252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44223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72547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41779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41163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283715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490172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224443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547147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72652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22.emf"/><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24.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815458" cy="227435"/>
          </a:xfrm>
          <a:prstGeom prst="rect">
            <a:avLst/>
          </a:prstGeom>
        </p:spPr>
        <p:txBody>
          <a:bodyPr wrap="square"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Dr. K.KARPAGAMBIGAI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625331" cy="256480"/>
          </a:xfrm>
          <a:prstGeom prst="rect">
            <a:avLst/>
          </a:prstGeom>
        </p:spPr>
        <p:txBody>
          <a:bodyPr wrap="square"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drkarpagambigaik@veltech.edu.in</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418064"/>
            <a:chOff x="3139699" y="4295282"/>
            <a:chExt cx="2272871" cy="418064"/>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56480"/>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Ms. R. UMAHESWARI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A2EF52-784B-5BFA-EB88-FB9E7588BFF8}"/>
              </a:ext>
            </a:extLst>
          </p:cNvPr>
          <p:cNvPicPr/>
          <p:nvPr/>
        </p:nvPicPr>
        <p:blipFill>
          <a:blip r:embed="rId2"/>
          <a:srcRect b="19729"/>
          <a:stretch>
            <a:fillRect/>
          </a:stretch>
        </p:blipFill>
        <p:spPr>
          <a:xfrm>
            <a:off x="967563" y="552893"/>
            <a:ext cx="6858000" cy="1775637"/>
          </a:xfrm>
          <a:prstGeom prst="rect">
            <a:avLst/>
          </a:prstGeom>
        </p:spPr>
      </p:pic>
      <p:sp>
        <p:nvSpPr>
          <p:cNvPr id="3" name="Rectangle 2"/>
          <p:cNvSpPr/>
          <p:nvPr/>
        </p:nvSpPr>
        <p:spPr>
          <a:xfrm>
            <a:off x="563527" y="1833639"/>
            <a:ext cx="8442250" cy="1477328"/>
          </a:xfrm>
          <a:prstGeom prst="rect">
            <a:avLst/>
          </a:prstGeom>
        </p:spPr>
        <p:txBody>
          <a:bodyPr wrap="square">
            <a:spAutoFit/>
          </a:bodyPr>
          <a:lstStyle/>
          <a:p>
            <a:pPr algn="ctr"/>
            <a:r>
              <a:rPr lang="en-IN" b="1" dirty="0">
                <a:latin typeface="Times New Roman" panose="02020603050405020304" pitchFamily="18" charset="0"/>
                <a:ea typeface="Arial" panose="020B0604020202020204" pitchFamily="34" charset="0"/>
              </a:rPr>
              <a:t> </a:t>
            </a:r>
            <a:endParaRPr lang="en-IN" b="1" dirty="0" smtClean="0">
              <a:latin typeface="Times New Roman" panose="02020603050405020304" pitchFamily="18" charset="0"/>
              <a:ea typeface="Arial" panose="020B0604020202020204" pitchFamily="34" charset="0"/>
            </a:endParaRPr>
          </a:p>
          <a:p>
            <a:pPr algn="ctr"/>
            <a:endParaRPr lang="en-IN" b="1" dirty="0" smtClean="0">
              <a:latin typeface="Times New Roman" panose="02020603050405020304" pitchFamily="18" charset="0"/>
              <a:ea typeface="Arial" panose="020B0604020202020204" pitchFamily="34" charset="0"/>
            </a:endParaRPr>
          </a:p>
          <a:p>
            <a:pPr algn="ctr">
              <a:lnSpc>
                <a:spcPct val="150000"/>
              </a:lnSpc>
            </a:pPr>
            <a:r>
              <a:rPr lang="en-IN" b="1" dirty="0" smtClean="0">
                <a:latin typeface="Times New Roman" panose="02020603050405020304" pitchFamily="18" charset="0"/>
                <a:ea typeface="Arial" panose="020B0604020202020204" pitchFamily="34" charset="0"/>
              </a:rPr>
              <a:t>EDUPULSE</a:t>
            </a:r>
            <a:r>
              <a:rPr lang="en-IN" b="1" dirty="0">
                <a:latin typeface="Times New Roman" panose="02020603050405020304" pitchFamily="18" charset="0"/>
                <a:ea typeface="Arial" panose="020B0604020202020204" pitchFamily="34" charset="0"/>
              </a:rPr>
              <a:t>: AI-DRIVEN REAL-TIME STUDENT FEEDBACK ANALYTICS FOR SMART LEARNING</a:t>
            </a:r>
            <a:endParaRPr lang="en-US" dirty="0"/>
          </a:p>
        </p:txBody>
      </p:sp>
      <p:sp>
        <p:nvSpPr>
          <p:cNvPr id="5" name="Rectangle 4"/>
          <p:cNvSpPr/>
          <p:nvPr/>
        </p:nvSpPr>
        <p:spPr>
          <a:xfrm>
            <a:off x="2945218" y="2110086"/>
            <a:ext cx="3572539" cy="2667397"/>
          </a:xfrm>
          <a:prstGeom prst="rect">
            <a:avLst/>
          </a:prstGeom>
        </p:spPr>
        <p:txBody>
          <a:bodyPr wrap="square">
            <a:spAutoFit/>
          </a:bodyPr>
          <a:lstStyle/>
          <a:p>
            <a:pPr>
              <a:lnSpc>
                <a:spcPts val="2040"/>
              </a:lnSpc>
            </a:pPr>
            <a:endParaRPr lang="en-US" b="1" dirty="0" smtClean="0">
              <a:solidFill>
                <a:srgbClr val="0D358D"/>
              </a:solidFill>
              <a:latin typeface="Times New Roman" panose="02020603050405020304" pitchFamily="18" charset="0"/>
              <a:ea typeface="Aileron Bold"/>
            </a:endParaRPr>
          </a:p>
          <a:p>
            <a:pPr>
              <a:lnSpc>
                <a:spcPts val="2040"/>
              </a:lnSpc>
            </a:pPr>
            <a:endParaRPr lang="en-US" b="1" dirty="0">
              <a:solidFill>
                <a:srgbClr val="0D358D"/>
              </a:solidFill>
              <a:latin typeface="Times New Roman" panose="02020603050405020304" pitchFamily="18" charset="0"/>
              <a:ea typeface="Aileron Bold"/>
            </a:endParaRPr>
          </a:p>
          <a:p>
            <a:pPr>
              <a:lnSpc>
                <a:spcPts val="2040"/>
              </a:lnSpc>
            </a:pPr>
            <a:endParaRPr lang="en-US" b="1" dirty="0" smtClean="0">
              <a:solidFill>
                <a:srgbClr val="0D358D"/>
              </a:solidFill>
              <a:latin typeface="Times New Roman" panose="02020603050405020304" pitchFamily="18" charset="0"/>
              <a:ea typeface="Aileron Bold"/>
            </a:endParaRPr>
          </a:p>
          <a:p>
            <a:pPr>
              <a:lnSpc>
                <a:spcPts val="2040"/>
              </a:lnSpc>
            </a:pPr>
            <a:endParaRPr lang="en-US" b="1" dirty="0">
              <a:solidFill>
                <a:srgbClr val="0D358D"/>
              </a:solidFill>
              <a:latin typeface="Times New Roman" panose="02020603050405020304" pitchFamily="18" charset="0"/>
              <a:ea typeface="Aileron Bold"/>
            </a:endParaRPr>
          </a:p>
          <a:p>
            <a:pPr>
              <a:lnSpc>
                <a:spcPts val="2040"/>
              </a:lnSpc>
            </a:pPr>
            <a:endParaRPr lang="en-US" b="1" dirty="0">
              <a:solidFill>
                <a:srgbClr val="0D358D"/>
              </a:solidFill>
              <a:latin typeface="Times New Roman" panose="02020603050405020304" pitchFamily="18" charset="0"/>
              <a:ea typeface="Aileron Bold"/>
            </a:endParaRPr>
          </a:p>
          <a:p>
            <a:pPr>
              <a:lnSpc>
                <a:spcPct val="150000"/>
              </a:lnSpc>
            </a:pPr>
            <a:r>
              <a:rPr lang="en-US" sz="1400" b="1" dirty="0" smtClean="0">
                <a:solidFill>
                  <a:srgbClr val="0D358D"/>
                </a:solidFill>
                <a:latin typeface="Times New Roman" panose="02020603050405020304" pitchFamily="18" charset="0"/>
                <a:ea typeface="Aileron Bold"/>
              </a:rPr>
              <a:t>               Dr. K.KARPAGAMBIGAI</a:t>
            </a:r>
            <a:endParaRPr lang="en-US" sz="1400" b="1" dirty="0">
              <a:solidFill>
                <a:srgbClr val="0D358D"/>
              </a:solidFill>
              <a:latin typeface="Times New Roman" panose="02020603050405020304" pitchFamily="18" charset="0"/>
              <a:ea typeface="Aileron Bold"/>
            </a:endParaRPr>
          </a:p>
          <a:p>
            <a:pPr>
              <a:lnSpc>
                <a:spcPct val="150000"/>
              </a:lnSpc>
            </a:pPr>
            <a:r>
              <a:rPr lang="en-US" sz="1400" b="1" dirty="0" smtClean="0">
                <a:solidFill>
                  <a:srgbClr val="0D358D"/>
                </a:solidFill>
                <a:latin typeface="Times New Roman" panose="02020603050405020304" pitchFamily="18" charset="0"/>
                <a:ea typeface="Aileron Bold"/>
              </a:rPr>
              <a:t>                ASSISTANT PROFESSOR, </a:t>
            </a:r>
          </a:p>
          <a:p>
            <a:pPr algn="ctr">
              <a:lnSpc>
                <a:spcPct val="150000"/>
              </a:lnSpc>
            </a:pPr>
            <a:r>
              <a:rPr lang="en-US" sz="1400" b="1" dirty="0" smtClean="0">
                <a:solidFill>
                  <a:srgbClr val="0D358D"/>
                </a:solidFill>
                <a:latin typeface="Times New Roman" panose="02020603050405020304" pitchFamily="18" charset="0"/>
                <a:ea typeface="Aileron Bold"/>
              </a:rPr>
              <a:t>  DEPARTMENT OF COMMERCE      VELTECH UNIVERSITY-CHENNAI</a:t>
            </a:r>
            <a:endParaRPr lang="en-US" sz="1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2233432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        OUTLINE</a:t>
            </a:r>
            <a:endParaRPr lang="en-US" sz="2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478465" y="1080603"/>
            <a:ext cx="4603898"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Abstract of the Project</a:t>
            </a:r>
            <a:endParaRPr lang="en-IN"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Problem Statement</a:t>
            </a: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Proposed Solution</a:t>
            </a: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System Architecture</a:t>
            </a: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Live Demo of the Project</a:t>
            </a: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Embedded Video of Project</a:t>
            </a:r>
          </a:p>
          <a:p>
            <a:pPr marL="228600" indent="-228600">
              <a:spcAft>
                <a:spcPts val="800"/>
              </a:spcAft>
              <a:buFont typeface="Arial" panose="020B0604020202020204" pitchFamily="34" charset="0"/>
              <a:buChar char="•"/>
              <a:tabLst>
                <a:tab pos="4229100" algn="ctr"/>
              </a:tabLst>
            </a:pPr>
            <a:r>
              <a:rPr lang="en-IN" b="1" dirty="0">
                <a:latin typeface="Times New Roman" panose="02020603050405020304" pitchFamily="18" charset="0"/>
                <a:ea typeface="+mn-lt"/>
                <a:cs typeface="Times New Roman" panose="02020603050405020304" pitchFamily="18" charset="0"/>
              </a:rPr>
              <a:t>Conclusion</a:t>
            </a:r>
          </a:p>
          <a:p>
            <a:pPr marL="228600" indent="-228600">
              <a:spcAft>
                <a:spcPts val="800"/>
              </a:spcAft>
              <a:buFont typeface="Arial" panose="020B0604020202020204" pitchFamily="34" charset="0"/>
              <a:buChar char="•"/>
              <a:tabLst>
                <a:tab pos="4229100" algn="ctr"/>
              </a:tabLst>
            </a:pPr>
            <a:r>
              <a:rPr lang="en-US" b="1" dirty="0">
                <a:latin typeface="Times New Roman" panose="02020603050405020304" pitchFamily="18" charset="0"/>
                <a:ea typeface="+mn-lt"/>
                <a:cs typeface="Times New Roman" panose="02020603050405020304" pitchFamily="18"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3646967" y="1034325"/>
            <a:ext cx="4600563"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328145"/>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ABSTRACT</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40080" y="912681"/>
            <a:ext cx="7504730" cy="4503797"/>
          </a:xfrm>
          <a:prstGeom prst="rect">
            <a:avLst/>
          </a:prstGeom>
          <a:noFill/>
        </p:spPr>
        <p:txBody>
          <a:bodyPr wrap="square">
            <a:spAutoFit/>
          </a:bodyPr>
          <a:lstStyle/>
          <a:p>
            <a:pPr algn="just">
              <a:lnSpc>
                <a:spcPct val="150000"/>
              </a:lnSpc>
              <a:spcAft>
                <a:spcPts val="800"/>
              </a:spcAft>
              <a:tabLst>
                <a:tab pos="4229100" algn="ctr"/>
              </a:tabLst>
            </a:pPr>
            <a:r>
              <a:rPr lang="en-IN" sz="1200" dirty="0">
                <a:latin typeface="Times New Roman" panose="02020603050405020304" pitchFamily="18" charset="0"/>
                <a:cs typeface="Times New Roman" panose="02020603050405020304" pitchFamily="18" charset="0"/>
              </a:rPr>
              <a:t>This </a:t>
            </a:r>
            <a:r>
              <a:rPr lang="en-IN" sz="1200" b="1" dirty="0">
                <a:latin typeface="Times New Roman" panose="02020603050405020304" pitchFamily="18" charset="0"/>
                <a:cs typeface="Times New Roman" panose="02020603050405020304" pitchFamily="18" charset="0"/>
              </a:rPr>
              <a:t>P</a:t>
            </a:r>
            <a:r>
              <a:rPr lang="en-IN" sz="1200" b="1" dirty="0" smtClean="0">
                <a:latin typeface="Times New Roman" panose="02020603050405020304" pitchFamily="18" charset="0"/>
                <a:cs typeface="Times New Roman" panose="02020603050405020304" pitchFamily="18" charset="0"/>
              </a:rPr>
              <a:t>roject </a:t>
            </a:r>
            <a:r>
              <a:rPr lang="en-IN" sz="1200" b="1" dirty="0">
                <a:latin typeface="Times New Roman" panose="02020603050405020304" pitchFamily="18" charset="0"/>
                <a:cs typeface="Times New Roman" panose="02020603050405020304" pitchFamily="18" charset="0"/>
              </a:rPr>
              <a:t>focuses </a:t>
            </a:r>
            <a:r>
              <a:rPr lang="en-IN" sz="1200" dirty="0">
                <a:latin typeface="Times New Roman" panose="02020603050405020304" pitchFamily="18" charset="0"/>
                <a:cs typeface="Times New Roman" panose="02020603050405020304" pitchFamily="18" charset="0"/>
              </a:rPr>
              <a:t>on the application of data analytics and artificial intelligence tools to evaluate </a:t>
            </a:r>
            <a:r>
              <a:rPr lang="en-IN" sz="1200" dirty="0" smtClean="0">
                <a:latin typeface="Times New Roman" panose="02020603050405020304" pitchFamily="18" charset="0"/>
                <a:cs typeface="Times New Roman" panose="02020603050405020304" pitchFamily="18" charset="0"/>
              </a:rPr>
              <a:t>Student </a:t>
            </a:r>
            <a:r>
              <a:rPr lang="en-IN" sz="1200" dirty="0">
                <a:latin typeface="Times New Roman" panose="02020603050405020304" pitchFamily="18" charset="0"/>
                <a:cs typeface="Times New Roman" panose="02020603050405020304" pitchFamily="18" charset="0"/>
              </a:rPr>
              <a:t>F</a:t>
            </a:r>
            <a:r>
              <a:rPr lang="en-IN" sz="1200" dirty="0" smtClean="0">
                <a:latin typeface="Times New Roman" panose="02020603050405020304" pitchFamily="18" charset="0"/>
                <a:cs typeface="Times New Roman" panose="02020603050405020304" pitchFamily="18" charset="0"/>
              </a:rPr>
              <a:t>eedback </a:t>
            </a:r>
            <a:r>
              <a:rPr lang="en-IN" sz="1200" dirty="0">
                <a:latin typeface="Times New Roman" panose="02020603050405020304" pitchFamily="18" charset="0"/>
                <a:cs typeface="Times New Roman" panose="02020603050405020304" pitchFamily="18" charset="0"/>
              </a:rPr>
              <a:t>for the </a:t>
            </a:r>
            <a:r>
              <a:rPr lang="en-IN" sz="1200" dirty="0" smtClean="0">
                <a:latin typeface="Times New Roman" panose="02020603050405020304" pitchFamily="18" charset="0"/>
                <a:cs typeface="Times New Roman" panose="02020603050405020304" pitchFamily="18" charset="0"/>
              </a:rPr>
              <a:t>Subject -Cost Accounting across the course </a:t>
            </a:r>
            <a:r>
              <a:rPr lang="en-IN" sz="1200" dirty="0" err="1" smtClean="0">
                <a:latin typeface="Times New Roman" panose="02020603050405020304" pitchFamily="18" charset="0"/>
                <a:cs typeface="Times New Roman" panose="02020603050405020304" pitchFamily="18" charset="0"/>
              </a:rPr>
              <a:t>B.Com</a:t>
            </a:r>
            <a:r>
              <a:rPr lang="en-IN" sz="1200" dirty="0" smtClean="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S</a:t>
            </a:r>
            <a:r>
              <a:rPr lang="en-IN" sz="1200" dirty="0" smtClean="0">
                <a:latin typeface="Times New Roman" panose="02020603050405020304" pitchFamily="18" charset="0"/>
                <a:cs typeface="Times New Roman" panose="02020603050405020304" pitchFamily="18" charset="0"/>
              </a:rPr>
              <a:t>pecializations</a:t>
            </a:r>
            <a:r>
              <a:rPr lang="en-IN" sz="1200" dirty="0">
                <a:latin typeface="Times New Roman" panose="02020603050405020304" pitchFamily="18" charset="0"/>
                <a:cs typeface="Times New Roman" panose="02020603050405020304" pitchFamily="18" charset="0"/>
              </a:rPr>
              <a:t>. The dataset consists of </a:t>
            </a:r>
            <a:r>
              <a:rPr lang="en-IN" sz="1200" dirty="0" smtClean="0">
                <a:latin typeface="Times New Roman" panose="02020603050405020304" pitchFamily="18" charset="0"/>
                <a:cs typeface="Times New Roman" panose="02020603050405020304" pitchFamily="18" charset="0"/>
              </a:rPr>
              <a:t>480 </a:t>
            </a:r>
            <a:r>
              <a:rPr lang="en-IN" sz="1200" dirty="0">
                <a:latin typeface="Times New Roman" panose="02020603050405020304" pitchFamily="18" charset="0"/>
                <a:cs typeface="Times New Roman" panose="02020603050405020304" pitchFamily="18" charset="0"/>
              </a:rPr>
              <a:t>student responses collected under multiple </a:t>
            </a:r>
            <a:r>
              <a:rPr lang="en-IN" sz="1200" dirty="0" smtClean="0">
                <a:latin typeface="Times New Roman" panose="02020603050405020304" pitchFamily="18" charset="0"/>
                <a:cs typeface="Times New Roman" panose="02020603050405020304" pitchFamily="18" charset="0"/>
              </a:rPr>
              <a:t>themes, analysed and derived a Faculty Performance-Metrics results.</a:t>
            </a:r>
          </a:p>
          <a:p>
            <a:pPr algn="just">
              <a:lnSpc>
                <a:spcPct val="150000"/>
              </a:lnSpc>
              <a:spcAft>
                <a:spcPts val="800"/>
              </a:spcAft>
              <a:tabLst>
                <a:tab pos="4229100" algn="ctr"/>
              </a:tabLst>
            </a:pPr>
            <a:r>
              <a:rPr lang="en-US" sz="1200" dirty="0" smtClean="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O</a:t>
            </a:r>
            <a:r>
              <a:rPr lang="en-US" sz="1200" b="1" dirty="0" smtClean="0">
                <a:latin typeface="Times New Roman" panose="02020603050405020304" pitchFamily="18" charset="0"/>
                <a:cs typeface="Times New Roman" panose="02020603050405020304" pitchFamily="18" charset="0"/>
              </a:rPr>
              <a:t>bjectives </a:t>
            </a:r>
            <a:r>
              <a:rPr lang="en-US" sz="1200" b="1" dirty="0">
                <a:latin typeface="Times New Roman" panose="02020603050405020304" pitchFamily="18" charset="0"/>
                <a:cs typeface="Times New Roman" panose="02020603050405020304" pitchFamily="18" charset="0"/>
              </a:rPr>
              <a:t>of the study </a:t>
            </a:r>
            <a:r>
              <a:rPr lang="en-US" sz="1200" dirty="0" smtClean="0">
                <a:latin typeface="Times New Roman" panose="02020603050405020304" pitchFamily="18" charset="0"/>
                <a:cs typeface="Times New Roman" panose="02020603050405020304" pitchFamily="18" charset="0"/>
              </a:rPr>
              <a:t>were a</a:t>
            </a:r>
            <a:r>
              <a:rPr lang="en-US" sz="1200" dirty="0" smtClean="0">
                <a:latin typeface="Times New Roman" panose="02020603050405020304" pitchFamily="18" charset="0"/>
                <a:cs typeface="Times New Roman" panose="02020603050405020304" pitchFamily="18" charset="0"/>
              </a:rPr>
              <a:t>nalyze the structured student feedback dataset </a:t>
            </a:r>
            <a:r>
              <a:rPr lang="en-US" sz="1200" dirty="0" smtClean="0">
                <a:latin typeface="Times New Roman" panose="02020603050405020304" pitchFamily="18" charset="0"/>
                <a:cs typeface="Times New Roman" panose="02020603050405020304" pitchFamily="18" charset="0"/>
              </a:rPr>
              <a:t>to determine</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faculty performance </a:t>
            </a:r>
            <a:r>
              <a:rPr lang="en-US" sz="1200" dirty="0" smtClean="0">
                <a:latin typeface="Times New Roman" panose="02020603050405020304" pitchFamily="18" charset="0"/>
                <a:cs typeface="Times New Roman" panose="02020603050405020304" pitchFamily="18" charset="0"/>
              </a:rPr>
              <a:t>Evaluation and </a:t>
            </a:r>
            <a:r>
              <a:rPr lang="en-US" sz="1200" dirty="0">
                <a:latin typeface="Times New Roman" panose="02020603050405020304" pitchFamily="18" charset="0"/>
                <a:cs typeface="Times New Roman" panose="02020603050405020304" pitchFamily="18" charset="0"/>
              </a:rPr>
              <a:t>course effectiveness using </a:t>
            </a:r>
            <a:r>
              <a:rPr lang="en-US" sz="1200" dirty="0" smtClean="0">
                <a:latin typeface="Times New Roman" panose="02020603050405020304" pitchFamily="18" charset="0"/>
                <a:cs typeface="Times New Roman" panose="02020603050405020304" pitchFamily="18" charset="0"/>
              </a:rPr>
              <a:t>quantitative and AI techniques</a:t>
            </a:r>
            <a:r>
              <a:rPr lang="en-US" sz="1200" dirty="0" smtClean="0">
                <a:latin typeface="Times New Roman" panose="02020603050405020304" pitchFamily="18" charset="0"/>
                <a:cs typeface="Times New Roman" panose="02020603050405020304" pitchFamily="18" charset="0"/>
              </a:rPr>
              <a:t>. The</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interactive dashboards </a:t>
            </a:r>
            <a:r>
              <a:rPr lang="en-US" sz="1200" dirty="0" smtClean="0">
                <a:latin typeface="Times New Roman" panose="02020603050405020304" pitchFamily="18" charset="0"/>
                <a:cs typeface="Times New Roman" panose="02020603050405020304" pitchFamily="18" charset="0"/>
              </a:rPr>
              <a:t>were created using </a:t>
            </a:r>
            <a:r>
              <a:rPr lang="en-US" sz="1200" dirty="0">
                <a:latin typeface="Times New Roman" panose="02020603050405020304" pitchFamily="18" charset="0"/>
                <a:cs typeface="Times New Roman" panose="02020603050405020304" pitchFamily="18" charset="0"/>
              </a:rPr>
              <a:t>Microsoft Excel </a:t>
            </a:r>
            <a:r>
              <a:rPr lang="en-US" sz="1200" dirty="0" smtClean="0">
                <a:latin typeface="Times New Roman" panose="02020603050405020304" pitchFamily="18" charset="0"/>
                <a:cs typeface="Times New Roman" panose="02020603050405020304" pitchFamily="18" charset="0"/>
              </a:rPr>
              <a:t>and</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Power </a:t>
            </a:r>
            <a:r>
              <a:rPr lang="en-US" sz="1200" dirty="0" smtClean="0">
                <a:latin typeface="Times New Roman" panose="02020603050405020304" pitchFamily="18" charset="0"/>
                <a:cs typeface="Times New Roman" panose="02020603050405020304" pitchFamily="18" charset="0"/>
              </a:rPr>
              <a:t>BI. </a:t>
            </a:r>
            <a:r>
              <a:rPr lang="en-US" sz="1200" dirty="0" smtClean="0">
                <a:latin typeface="Times New Roman" panose="02020603050405020304" pitchFamily="18" charset="0"/>
                <a:cs typeface="Times New Roman" panose="02020603050405020304" pitchFamily="18" charset="0"/>
              </a:rPr>
              <a:t>The</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AI tools such as Microsoft Copilot and </a:t>
            </a:r>
            <a:r>
              <a:rPr lang="en-US" sz="1200" dirty="0" smtClean="0">
                <a:latin typeface="Times New Roman" panose="02020603050405020304" pitchFamily="18" charset="0"/>
                <a:cs typeface="Times New Roman" panose="02020603050405020304" pitchFamily="18" charset="0"/>
              </a:rPr>
              <a:t>chat bot </a:t>
            </a:r>
            <a:r>
              <a:rPr lang="en-US" sz="1200" dirty="0">
                <a:latin typeface="Times New Roman" panose="02020603050405020304" pitchFamily="18" charset="0"/>
                <a:cs typeface="Times New Roman" panose="02020603050405020304" pitchFamily="18" charset="0"/>
              </a:rPr>
              <a:t>systems </a:t>
            </a:r>
            <a:r>
              <a:rPr lang="en-US" sz="1200" dirty="0" smtClean="0">
                <a:latin typeface="Times New Roman" panose="02020603050405020304" pitchFamily="18" charset="0"/>
                <a:cs typeface="Times New Roman" panose="02020603050405020304" pitchFamily="18" charset="0"/>
              </a:rPr>
              <a:t>were </a:t>
            </a:r>
            <a:r>
              <a:rPr lang="en-US" sz="1200" dirty="0" smtClean="0">
                <a:latin typeface="Times New Roman" panose="02020603050405020304" pitchFamily="18" charset="0"/>
                <a:cs typeface="Times New Roman" panose="02020603050405020304" pitchFamily="18" charset="0"/>
              </a:rPr>
              <a:t>build </a:t>
            </a:r>
            <a:r>
              <a:rPr lang="en-US" sz="1200" dirty="0" smtClean="0">
                <a:latin typeface="Times New Roman" panose="02020603050405020304" pitchFamily="18" charset="0"/>
                <a:cs typeface="Times New Roman" panose="02020603050405020304" pitchFamily="18" charset="0"/>
              </a:rPr>
              <a:t>for </a:t>
            </a:r>
            <a:r>
              <a:rPr lang="en-US" sz="1200" dirty="0">
                <a:latin typeface="Times New Roman" panose="02020603050405020304" pitchFamily="18" charset="0"/>
                <a:cs typeface="Times New Roman" panose="02020603050405020304" pitchFamily="18" charset="0"/>
              </a:rPr>
              <a:t>automated insight generation. </a:t>
            </a:r>
            <a:endParaRPr lang="en-US" sz="1200" dirty="0" smtClean="0">
              <a:latin typeface="Times New Roman" panose="02020603050405020304" pitchFamily="18" charset="0"/>
              <a:cs typeface="Times New Roman" panose="02020603050405020304" pitchFamily="18" charset="0"/>
            </a:endParaRPr>
          </a:p>
          <a:p>
            <a:pPr algn="just">
              <a:lnSpc>
                <a:spcPct val="150000"/>
              </a:lnSpc>
              <a:spcAft>
                <a:spcPts val="800"/>
              </a:spcAft>
              <a:tabLst>
                <a:tab pos="4229100" algn="ctr"/>
              </a:tabLst>
            </a:pPr>
            <a:r>
              <a:rPr lang="en-US" sz="1200" dirty="0" smtClean="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R</a:t>
            </a:r>
            <a:r>
              <a:rPr lang="en-US" sz="1200" b="1" dirty="0" smtClean="0">
                <a:latin typeface="Times New Roman" panose="02020603050405020304" pitchFamily="18" charset="0"/>
                <a:cs typeface="Times New Roman" panose="02020603050405020304" pitchFamily="18" charset="0"/>
              </a:rPr>
              <a:t>esults </a:t>
            </a:r>
            <a:r>
              <a:rPr lang="en-US" sz="1200" b="1" dirty="0" smtClean="0">
                <a:latin typeface="Times New Roman" panose="02020603050405020304" pitchFamily="18" charset="0"/>
                <a:cs typeface="Times New Roman" panose="02020603050405020304" pitchFamily="18" charset="0"/>
              </a:rPr>
              <a:t>highlights </a:t>
            </a:r>
            <a:r>
              <a:rPr lang="en-US" sz="1200" dirty="0">
                <a:latin typeface="Times New Roman" panose="02020603050405020304" pitchFamily="18" charset="0"/>
                <a:cs typeface="Times New Roman" panose="02020603050405020304" pitchFamily="18" charset="0"/>
              </a:rPr>
              <a:t>key performance indicators and highlight areas </a:t>
            </a:r>
            <a:r>
              <a:rPr lang="en-US" sz="1200" dirty="0" smtClean="0">
                <a:latin typeface="Times New Roman" panose="02020603050405020304" pitchFamily="18" charset="0"/>
                <a:cs typeface="Times New Roman" panose="02020603050405020304" pitchFamily="18" charset="0"/>
              </a:rPr>
              <a:t>requiring improvement </a:t>
            </a:r>
            <a:r>
              <a:rPr lang="en-US" sz="1200" dirty="0">
                <a:latin typeface="Times New Roman" panose="02020603050405020304" pitchFamily="18" charset="0"/>
                <a:cs typeface="Times New Roman" panose="02020603050405020304" pitchFamily="18" charset="0"/>
              </a:rPr>
              <a:t>in teaching </a:t>
            </a:r>
            <a:r>
              <a:rPr lang="en-US" sz="1200" dirty="0" smtClean="0">
                <a:latin typeface="Times New Roman" panose="02020603050405020304" pitchFamily="18" charset="0"/>
                <a:cs typeface="Times New Roman" panose="02020603050405020304" pitchFamily="18" charset="0"/>
              </a:rPr>
              <a:t>                                 and learning processes</a:t>
            </a:r>
            <a:r>
              <a:rPr lang="en-US" sz="1200" dirty="0" smtClean="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Faculty performance evaluation indicated measurable differences in effectiveness, and the dashboard visualizations provided clear insights into strengths and weaknesses across themes. </a:t>
            </a:r>
            <a:endParaRPr lang="en-US" sz="1200" dirty="0" smtClean="0">
              <a:latin typeface="Times New Roman" panose="02020603050405020304" pitchFamily="18" charset="0"/>
              <a:cs typeface="Times New Roman" panose="02020603050405020304" pitchFamily="18" charset="0"/>
            </a:endParaRPr>
          </a:p>
          <a:p>
            <a:pPr algn="just">
              <a:spcAft>
                <a:spcPts val="800"/>
              </a:spcAft>
              <a:tabLst>
                <a:tab pos="4229100" algn="ctr"/>
              </a:tabLst>
            </a:pPr>
            <a:r>
              <a:rPr lang="en-US" sz="1200" b="1" dirty="0" smtClean="0">
                <a:latin typeface="Times New Roman" panose="02020603050405020304" pitchFamily="18" charset="0"/>
                <a:cs typeface="Times New Roman" panose="02020603050405020304" pitchFamily="18" charset="0"/>
              </a:rPr>
              <a:t>Application of AI </a:t>
            </a:r>
            <a:r>
              <a:rPr lang="en-US" sz="1200" b="1" dirty="0">
                <a:latin typeface="Times New Roman" panose="02020603050405020304" pitchFamily="18" charset="0"/>
                <a:cs typeface="Times New Roman" panose="02020603050405020304" pitchFamily="18" charset="0"/>
              </a:rPr>
              <a:t>tools </a:t>
            </a:r>
            <a:endParaRPr lang="en-US" sz="1200" b="1" dirty="0" smtClean="0">
              <a:latin typeface="Times New Roman" panose="02020603050405020304" pitchFamily="18" charset="0"/>
              <a:cs typeface="Times New Roman" panose="02020603050405020304" pitchFamily="18" charset="0"/>
            </a:endParaRPr>
          </a:p>
          <a:p>
            <a:pPr marL="171450" indent="-171450" algn="just">
              <a:spcAft>
                <a:spcPts val="800"/>
              </a:spcAft>
              <a:buFont typeface="Wingdings" panose="05000000000000000000" pitchFamily="2" charset="2"/>
              <a:buChar char="v"/>
              <a:tabLst>
                <a:tab pos="4229100" algn="ctr"/>
              </a:tabLst>
            </a:pPr>
            <a:r>
              <a:rPr lang="en-US" sz="1200" dirty="0">
                <a:latin typeface="Times New Roman" panose="02020603050405020304" pitchFamily="18" charset="0"/>
                <a:cs typeface="Times New Roman" panose="02020603050405020304" pitchFamily="18" charset="0"/>
              </a:rPr>
              <a:t>E</a:t>
            </a:r>
            <a:r>
              <a:rPr lang="en-US" sz="1200" dirty="0" smtClean="0">
                <a:latin typeface="Times New Roman" panose="02020603050405020304" pitchFamily="18" charset="0"/>
                <a:cs typeface="Times New Roman" panose="02020603050405020304" pitchFamily="18" charset="0"/>
              </a:rPr>
              <a:t>nhanced </a:t>
            </a:r>
            <a:r>
              <a:rPr lang="en-US" sz="1200" dirty="0">
                <a:latin typeface="Times New Roman" panose="02020603050405020304" pitchFamily="18" charset="0"/>
                <a:cs typeface="Times New Roman" panose="02020603050405020304" pitchFamily="18" charset="0"/>
              </a:rPr>
              <a:t>the speed and accuracy of </a:t>
            </a:r>
            <a:r>
              <a:rPr lang="en-US" sz="1200" dirty="0" smtClean="0">
                <a:latin typeface="Times New Roman" panose="02020603050405020304" pitchFamily="18" charset="0"/>
                <a:cs typeface="Times New Roman" panose="02020603050405020304" pitchFamily="18" charset="0"/>
              </a:rPr>
              <a:t>analysis</a:t>
            </a:r>
            <a:r>
              <a:rPr lang="en-US" sz="1200" dirty="0">
                <a:latin typeface="Times New Roman" panose="02020603050405020304" pitchFamily="18" charset="0"/>
                <a:cs typeface="Times New Roman" panose="02020603050405020304" pitchFamily="18" charset="0"/>
              </a:rPr>
              <a:t>.</a:t>
            </a:r>
            <a:endParaRPr lang="en-US" sz="1200" dirty="0" smtClean="0">
              <a:latin typeface="Times New Roman" panose="02020603050405020304" pitchFamily="18" charset="0"/>
              <a:cs typeface="Times New Roman" panose="02020603050405020304" pitchFamily="18" charset="0"/>
            </a:endParaRPr>
          </a:p>
          <a:p>
            <a:pPr marL="171450" indent="-171450" algn="just">
              <a:spcAft>
                <a:spcPts val="800"/>
              </a:spcAft>
              <a:buFont typeface="Wingdings" panose="05000000000000000000" pitchFamily="2" charset="2"/>
              <a:buChar char="v"/>
              <a:tabLst>
                <a:tab pos="4229100" algn="ctr"/>
              </a:tabLst>
            </a:pPr>
            <a:r>
              <a:rPr lang="en-US" sz="1200" dirty="0">
                <a:latin typeface="Times New Roman" panose="02020603050405020304" pitchFamily="18" charset="0"/>
                <a:cs typeface="Times New Roman" panose="02020603050405020304" pitchFamily="18" charset="0"/>
              </a:rPr>
              <a:t>E</a:t>
            </a:r>
            <a:r>
              <a:rPr lang="en-US" sz="1200" dirty="0" smtClean="0">
                <a:latin typeface="Times New Roman" panose="02020603050405020304" pitchFamily="18" charset="0"/>
                <a:cs typeface="Times New Roman" panose="02020603050405020304" pitchFamily="18" charset="0"/>
              </a:rPr>
              <a:t>nabling </a:t>
            </a:r>
            <a:r>
              <a:rPr lang="en-US" sz="1200" dirty="0">
                <a:latin typeface="Times New Roman" panose="02020603050405020304" pitchFamily="18" charset="0"/>
                <a:cs typeface="Times New Roman" panose="02020603050405020304" pitchFamily="18" charset="0"/>
              </a:rPr>
              <a:t>efficient </a:t>
            </a:r>
            <a:r>
              <a:rPr lang="en-US" sz="1200" dirty="0" smtClean="0">
                <a:latin typeface="Times New Roman" panose="02020603050405020304" pitchFamily="18" charset="0"/>
                <a:cs typeface="Times New Roman" panose="02020603050405020304" pitchFamily="18" charset="0"/>
              </a:rPr>
              <a:t>Performance evaluation and decisions.</a:t>
            </a:r>
            <a:endParaRPr lang="en-US" sz="1200" dirty="0">
              <a:latin typeface="Times New Roman" panose="02020603050405020304" pitchFamily="18" charset="0"/>
              <a:cs typeface="Times New Roman" panose="02020603050405020304" pitchFamily="18" charset="0"/>
            </a:endParaRPr>
          </a:p>
          <a:p>
            <a:pPr>
              <a:spcAft>
                <a:spcPts val="800"/>
              </a:spcAft>
              <a:tabLst>
                <a:tab pos="4229100" algn="ctr"/>
              </a:tabLst>
            </a:pPr>
            <a:endParaRPr lang="en-US" sz="1200" dirty="0"/>
          </a:p>
          <a:p>
            <a:pPr>
              <a:spcAft>
                <a:spcPts val="800"/>
              </a:spcAft>
              <a:tabLst>
                <a:tab pos="4229100" algn="ctr"/>
              </a:tabLst>
            </a:pPr>
            <a:endParaRPr lang="en-US" sz="12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7644809" y="1082801"/>
            <a:ext cx="1240110" cy="3712483"/>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7783032" y="873760"/>
            <a:ext cx="1233377" cy="3947240"/>
          </a:xfrm>
          <a:prstGeom prst="rect">
            <a:avLst/>
          </a:prstGeom>
        </p:spPr>
      </p:pic>
      <p:sp>
        <p:nvSpPr>
          <p:cNvPr id="4" name="Text 2"/>
          <p:cNvSpPr/>
          <p:nvPr/>
        </p:nvSpPr>
        <p:spPr>
          <a:xfrm>
            <a:off x="276447" y="611286"/>
            <a:ext cx="8073776" cy="438912"/>
          </a:xfrm>
          <a:prstGeom prst="rect">
            <a:avLst/>
          </a:prstGeom>
          <a:noFill/>
          <a:ln/>
        </p:spPr>
        <p:txBody>
          <a:bodyPr wrap="square" rtlCol="0" anchor="ctr"/>
          <a:lstStyle/>
          <a:p>
            <a:pPr marL="0" indent="0">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                                PROBLEM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STATEMENT</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276447" y="1013129"/>
            <a:ext cx="7506585" cy="3693319"/>
          </a:xfrm>
          <a:prstGeom prst="rect">
            <a:avLst/>
          </a:prstGeom>
          <a:noFill/>
        </p:spPr>
        <p:txBody>
          <a:bodyPr wrap="square">
            <a:spAutoFit/>
          </a:bodyPr>
          <a:lstStyle/>
          <a:p>
            <a:pPr>
              <a:lnSpc>
                <a:spcPct val="150000"/>
              </a:lnSpc>
            </a:pPr>
            <a:r>
              <a:rPr lang="en-US" sz="1300" dirty="0">
                <a:latin typeface="Times New Roman" panose="02020603050405020304" pitchFamily="18" charset="0"/>
                <a:cs typeface="Times New Roman" panose="02020603050405020304" pitchFamily="18" charset="0"/>
              </a:rPr>
              <a:t>Educational institutions </a:t>
            </a:r>
            <a:r>
              <a:rPr lang="en-US" sz="1300" dirty="0" smtClean="0">
                <a:latin typeface="Times New Roman" panose="02020603050405020304" pitchFamily="18" charset="0"/>
                <a:cs typeface="Times New Roman" panose="02020603050405020304" pitchFamily="18" charset="0"/>
              </a:rPr>
              <a:t>collect </a:t>
            </a:r>
            <a:r>
              <a:rPr lang="en-US" sz="1300" dirty="0">
                <a:latin typeface="Times New Roman" panose="02020603050405020304" pitchFamily="18" charset="0"/>
                <a:cs typeface="Times New Roman" panose="02020603050405020304" pitchFamily="18" charset="0"/>
              </a:rPr>
              <a:t>student feedback to evaluate teaching effectiveness and course </a:t>
            </a:r>
            <a:r>
              <a:rPr lang="en-US" sz="1300" dirty="0" smtClean="0">
                <a:latin typeface="Times New Roman" panose="02020603050405020304" pitchFamily="18" charset="0"/>
                <a:cs typeface="Times New Roman" panose="02020603050405020304" pitchFamily="18" charset="0"/>
              </a:rPr>
              <a:t>quality and overall learning out comes. The collected Feedback data were underutilized </a:t>
            </a:r>
            <a:r>
              <a:rPr lang="en-US" sz="1300" dirty="0">
                <a:latin typeface="Times New Roman" panose="02020603050405020304" pitchFamily="18" charset="0"/>
                <a:cs typeface="Times New Roman" panose="02020603050405020304" pitchFamily="18" charset="0"/>
              </a:rPr>
              <a:t>due to </a:t>
            </a:r>
            <a:r>
              <a:rPr lang="en-US" sz="1300" dirty="0" smtClean="0">
                <a:latin typeface="Times New Roman" panose="02020603050405020304" pitchFamily="18" charset="0"/>
                <a:cs typeface="Times New Roman" panose="02020603050405020304" pitchFamily="18" charset="0"/>
              </a:rPr>
              <a:t>operational barriers and </a:t>
            </a:r>
            <a:r>
              <a:rPr lang="en-US" sz="1300" dirty="0">
                <a:latin typeface="Times New Roman" panose="02020603050405020304" pitchFamily="18" charset="0"/>
                <a:cs typeface="Times New Roman" panose="02020603050405020304" pitchFamily="18" charset="0"/>
              </a:rPr>
              <a:t>analytical </a:t>
            </a:r>
            <a:r>
              <a:rPr lang="en-US" sz="1300" dirty="0" smtClean="0">
                <a:latin typeface="Times New Roman" panose="02020603050405020304" pitchFamily="18" charset="0"/>
                <a:cs typeface="Times New Roman" panose="02020603050405020304" pitchFamily="18" charset="0"/>
              </a:rPr>
              <a:t>limitations.</a:t>
            </a:r>
            <a:r>
              <a:rPr lang="en-US" sz="1300" dirty="0"/>
              <a:t> </a:t>
            </a:r>
            <a:r>
              <a:rPr lang="en-US" sz="1300" dirty="0" smtClean="0"/>
              <a:t>The </a:t>
            </a:r>
            <a:r>
              <a:rPr lang="en-US" sz="1300" dirty="0">
                <a:latin typeface="Times New Roman" panose="02020603050405020304" pitchFamily="18" charset="0"/>
                <a:cs typeface="Times New Roman" panose="02020603050405020304" pitchFamily="18" charset="0"/>
              </a:rPr>
              <a:t>traditional methods of analyzing feedback are often </a:t>
            </a:r>
            <a:r>
              <a:rPr lang="en-US" sz="1300" dirty="0" smtClean="0">
                <a:latin typeface="Times New Roman" panose="02020603050405020304" pitchFamily="18" charset="0"/>
                <a:cs typeface="Times New Roman" panose="02020603050405020304" pitchFamily="18" charset="0"/>
              </a:rPr>
              <a:t>manual and time-consuming,</a:t>
            </a:r>
          </a:p>
          <a:p>
            <a:pPr marL="285750" indent="-285750">
              <a:lnSpc>
                <a:spcPct val="150000"/>
              </a:lnSpc>
              <a:buFont typeface="Wingdings" panose="05000000000000000000" pitchFamily="2" charset="2"/>
              <a:buChar char="v"/>
            </a:pPr>
            <a:r>
              <a:rPr lang="en-US" sz="1300" b="1" dirty="0" smtClean="0">
                <a:latin typeface="Times New Roman" panose="02020603050405020304" pitchFamily="18" charset="0"/>
                <a:cs typeface="Times New Roman" panose="02020603050405020304" pitchFamily="18" charset="0"/>
              </a:rPr>
              <a:t>Lack </a:t>
            </a:r>
            <a:r>
              <a:rPr lang="en-US" sz="1300" b="1" dirty="0">
                <a:latin typeface="Times New Roman" panose="02020603050405020304" pitchFamily="18" charset="0"/>
                <a:cs typeface="Times New Roman" panose="02020603050405020304" pitchFamily="18" charset="0"/>
              </a:rPr>
              <a:t>of </a:t>
            </a:r>
            <a:r>
              <a:rPr lang="en-US" sz="1300" b="1" dirty="0" smtClean="0">
                <a:latin typeface="Times New Roman" panose="02020603050405020304" pitchFamily="18" charset="0"/>
                <a:cs typeface="Times New Roman" panose="02020603050405020304" pitchFamily="18" charset="0"/>
              </a:rPr>
              <a:t> Systematic </a:t>
            </a:r>
            <a:r>
              <a:rPr lang="en-US" sz="1300" b="1" dirty="0">
                <a:latin typeface="Times New Roman" panose="02020603050405020304" pitchFamily="18" charset="0"/>
                <a:cs typeface="Times New Roman" panose="02020603050405020304" pitchFamily="18" charset="0"/>
              </a:rPr>
              <a:t>approach </a:t>
            </a:r>
            <a:r>
              <a:rPr lang="en-US" sz="1300" b="1" dirty="0" smtClean="0">
                <a:latin typeface="Times New Roman" panose="02020603050405020304" pitchFamily="18" charset="0"/>
                <a:cs typeface="Times New Roman" panose="02020603050405020304" pitchFamily="18" charset="0"/>
              </a:rPr>
              <a:t>of identifying the actual Faculty performance Evaluation</a:t>
            </a:r>
            <a:r>
              <a:rPr lang="en-US" sz="1300" dirty="0" smtClean="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v"/>
            </a:pPr>
            <a:r>
              <a:rPr lang="en-US" sz="1300" b="1" dirty="0" smtClean="0">
                <a:latin typeface="Times New Roman" panose="02020603050405020304" pitchFamily="18" charset="0"/>
                <a:cs typeface="Times New Roman" panose="02020603050405020304" pitchFamily="18" charset="0"/>
              </a:rPr>
              <a:t>Lack of </a:t>
            </a:r>
            <a:r>
              <a:rPr lang="en-US" sz="1300" b="1" dirty="0" smtClean="0">
                <a:latin typeface="Times New Roman" panose="02020603050405020304" pitchFamily="18" charset="0"/>
                <a:cs typeface="Times New Roman" panose="02020603050405020304" pitchFamily="18" charset="0"/>
              </a:rPr>
              <a:t>Learning </a:t>
            </a:r>
            <a:r>
              <a:rPr lang="en-US" sz="1300" b="1" dirty="0" smtClean="0">
                <a:latin typeface="Times New Roman" panose="02020603050405020304" pitchFamily="18" charset="0"/>
                <a:cs typeface="Times New Roman" panose="02020603050405020304" pitchFamily="18" charset="0"/>
              </a:rPr>
              <a:t>Exposure and Identification of Improvement areas to Students </a:t>
            </a:r>
          </a:p>
          <a:p>
            <a:pPr marL="285750" indent="-285750">
              <a:lnSpc>
                <a:spcPct val="150000"/>
              </a:lnSpc>
              <a:buFont typeface="Wingdings" panose="05000000000000000000" pitchFamily="2" charset="2"/>
              <a:buChar char="v"/>
            </a:pPr>
            <a:r>
              <a:rPr lang="en-US" sz="1300" b="1" dirty="0" smtClean="0">
                <a:latin typeface="Times New Roman" panose="02020603050405020304" pitchFamily="18" charset="0"/>
                <a:cs typeface="Times New Roman" panose="02020603050405020304" pitchFamily="18" charset="0"/>
              </a:rPr>
              <a:t>Absence </a:t>
            </a:r>
            <a:r>
              <a:rPr lang="en-US" sz="1300" b="1" dirty="0">
                <a:latin typeface="Times New Roman" panose="02020603050405020304" pitchFamily="18" charset="0"/>
                <a:cs typeface="Times New Roman" panose="02020603050405020304" pitchFamily="18" charset="0"/>
              </a:rPr>
              <a:t>of </a:t>
            </a:r>
            <a:r>
              <a:rPr lang="en-US" sz="1300" b="1" dirty="0" smtClean="0">
                <a:latin typeface="Times New Roman" panose="02020603050405020304" pitchFamily="18" charset="0"/>
                <a:cs typeface="Times New Roman" panose="02020603050405020304" pitchFamily="18" charset="0"/>
              </a:rPr>
              <a:t>Integrated </a:t>
            </a:r>
            <a:r>
              <a:rPr lang="en-US" sz="1300" b="1" dirty="0">
                <a:latin typeface="Times New Roman" panose="02020603050405020304" pitchFamily="18" charset="0"/>
                <a:cs typeface="Times New Roman" panose="02020603050405020304" pitchFamily="18" charset="0"/>
              </a:rPr>
              <a:t>analytical tools and </a:t>
            </a:r>
            <a:r>
              <a:rPr lang="en-US" sz="1300" b="1" dirty="0" smtClean="0">
                <a:latin typeface="Times New Roman" panose="02020603050405020304" pitchFamily="18" charset="0"/>
                <a:cs typeface="Times New Roman" panose="02020603050405020304" pitchFamily="18" charset="0"/>
              </a:rPr>
              <a:t>Visualization Mechanism</a:t>
            </a:r>
            <a:endParaRPr lang="en-US" sz="1300" b="1" dirty="0" smtClean="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1300" b="1" dirty="0">
                <a:latin typeface="Times New Roman" panose="02020603050405020304" pitchFamily="18" charset="0"/>
                <a:cs typeface="Times New Roman" panose="02020603050405020304" pitchFamily="18" charset="0"/>
              </a:rPr>
              <a:t>A</a:t>
            </a:r>
            <a:r>
              <a:rPr lang="en-US" sz="1300" b="1" dirty="0" smtClean="0">
                <a:latin typeface="Times New Roman" panose="02020603050405020304" pitchFamily="18" charset="0"/>
                <a:cs typeface="Times New Roman" panose="02020603050405020304" pitchFamily="18" charset="0"/>
              </a:rPr>
              <a:t>doption of</a:t>
            </a:r>
            <a:r>
              <a:rPr lang="en-US" sz="1300" dirty="0" smtClean="0">
                <a:latin typeface="Times New Roman" panose="02020603050405020304" pitchFamily="18" charset="0"/>
                <a:cs typeface="Times New Roman" panose="02020603050405020304" pitchFamily="18" charset="0"/>
              </a:rPr>
              <a:t> </a:t>
            </a:r>
            <a:r>
              <a:rPr lang="en-US" sz="1300" b="1" dirty="0">
                <a:latin typeface="Times New Roman" panose="02020603050405020304" pitchFamily="18" charset="0"/>
                <a:cs typeface="Times New Roman" panose="02020603050405020304" pitchFamily="18" charset="0"/>
              </a:rPr>
              <a:t>limited of AI-driven tools</a:t>
            </a:r>
            <a:r>
              <a:rPr lang="en-US" sz="1300" dirty="0">
                <a:latin typeface="Times New Roman" panose="02020603050405020304" pitchFamily="18" charset="0"/>
                <a:cs typeface="Times New Roman" panose="02020603050405020304" pitchFamily="18" charset="0"/>
              </a:rPr>
              <a:t> </a:t>
            </a:r>
            <a:endParaRPr lang="en-US" sz="1300" dirty="0" smtClean="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IN" sz="1300" b="1" dirty="0" smtClean="0">
                <a:latin typeface="Times New Roman" panose="02020603050405020304" pitchFamily="18" charset="0"/>
                <a:cs typeface="Times New Roman" panose="02020603050405020304" pitchFamily="18" charset="0"/>
              </a:rPr>
              <a:t>Lack </a:t>
            </a:r>
            <a:r>
              <a:rPr lang="en-IN" sz="1300" b="1" dirty="0">
                <a:latin typeface="Times New Roman" panose="02020603050405020304" pitchFamily="18" charset="0"/>
                <a:cs typeface="Times New Roman" panose="02020603050405020304" pitchFamily="18" charset="0"/>
              </a:rPr>
              <a:t>of Real-Time and Automated </a:t>
            </a:r>
            <a:r>
              <a:rPr lang="en-IN" sz="1300" b="1" dirty="0" smtClean="0">
                <a:latin typeface="Times New Roman" panose="02020603050405020304" pitchFamily="18" charset="0"/>
                <a:cs typeface="Times New Roman" panose="02020603050405020304" pitchFamily="18" charset="0"/>
              </a:rPr>
              <a:t>Insights</a:t>
            </a:r>
          </a:p>
          <a:p>
            <a:pPr>
              <a:lnSpc>
                <a:spcPct val="150000"/>
              </a:lnSpc>
            </a:pPr>
            <a:r>
              <a:rPr lang="en-US" sz="1300" dirty="0">
                <a:latin typeface="Times New Roman" panose="02020603050405020304" pitchFamily="18" charset="0"/>
                <a:cs typeface="Times New Roman" panose="02020603050405020304" pitchFamily="18" charset="0"/>
              </a:rPr>
              <a:t>T</a:t>
            </a:r>
            <a:r>
              <a:rPr lang="en-US" sz="1300" dirty="0" smtClean="0">
                <a:latin typeface="Times New Roman" panose="02020603050405020304" pitchFamily="18" charset="0"/>
                <a:cs typeface="Times New Roman" panose="02020603050405020304" pitchFamily="18" charset="0"/>
              </a:rPr>
              <a:t>he </a:t>
            </a:r>
            <a:r>
              <a:rPr lang="en-US" sz="1300" dirty="0">
                <a:latin typeface="Times New Roman" panose="02020603050405020304" pitchFamily="18" charset="0"/>
                <a:cs typeface="Times New Roman" panose="02020603050405020304" pitchFamily="18" charset="0"/>
              </a:rPr>
              <a:t>C</a:t>
            </a:r>
            <a:r>
              <a:rPr lang="en-US" sz="1300" dirty="0" smtClean="0">
                <a:latin typeface="Times New Roman" panose="02020603050405020304" pitchFamily="18" charset="0"/>
                <a:cs typeface="Times New Roman" panose="02020603050405020304" pitchFamily="18" charset="0"/>
              </a:rPr>
              <a:t>ore </a:t>
            </a:r>
            <a:r>
              <a:rPr lang="en-US" sz="1300" dirty="0">
                <a:latin typeface="Times New Roman" panose="02020603050405020304" pitchFamily="18" charset="0"/>
                <a:cs typeface="Times New Roman" panose="02020603050405020304" pitchFamily="18" charset="0"/>
              </a:rPr>
              <a:t>problem addressed in this project is the need to </a:t>
            </a:r>
            <a:r>
              <a:rPr lang="en-US" sz="1300" b="1" dirty="0">
                <a:latin typeface="Times New Roman" panose="02020603050405020304" pitchFamily="18" charset="0"/>
                <a:cs typeface="Times New Roman" panose="02020603050405020304" pitchFamily="18" charset="0"/>
              </a:rPr>
              <a:t>transform </a:t>
            </a:r>
            <a:r>
              <a:rPr lang="en-US" sz="1300" b="1" dirty="0" smtClean="0">
                <a:latin typeface="Times New Roman" panose="02020603050405020304" pitchFamily="18" charset="0"/>
                <a:cs typeface="Times New Roman" panose="02020603050405020304" pitchFamily="18" charset="0"/>
              </a:rPr>
              <a:t>student </a:t>
            </a:r>
            <a:r>
              <a:rPr lang="en-US" sz="1300" b="1" dirty="0">
                <a:latin typeface="Times New Roman" panose="02020603050405020304" pitchFamily="18" charset="0"/>
                <a:cs typeface="Times New Roman" panose="02020603050405020304" pitchFamily="18" charset="0"/>
              </a:rPr>
              <a:t>feedback </a:t>
            </a:r>
            <a:r>
              <a:rPr lang="en-US" sz="1300" b="1" dirty="0" smtClean="0">
                <a:latin typeface="Times New Roman" panose="02020603050405020304" pitchFamily="18" charset="0"/>
                <a:cs typeface="Times New Roman" panose="02020603050405020304" pitchFamily="18" charset="0"/>
              </a:rPr>
              <a:t>data on cost accounting Course of </a:t>
            </a:r>
            <a:r>
              <a:rPr lang="en-US" sz="1300" b="1" dirty="0" err="1" smtClean="0">
                <a:latin typeface="Times New Roman" panose="02020603050405020304" pitchFamily="18" charset="0"/>
                <a:cs typeface="Times New Roman" panose="02020603050405020304" pitchFamily="18" charset="0"/>
              </a:rPr>
              <a:t>B.Com</a:t>
            </a:r>
            <a:r>
              <a:rPr lang="en-US" sz="1300" b="1" dirty="0" smtClean="0">
                <a:latin typeface="Times New Roman" panose="02020603050405020304" pitchFamily="18" charset="0"/>
                <a:cs typeface="Times New Roman" panose="02020603050405020304" pitchFamily="18" charset="0"/>
              </a:rPr>
              <a:t>-Students </a:t>
            </a:r>
            <a:r>
              <a:rPr lang="en-US" sz="1300" b="1" dirty="0">
                <a:latin typeface="Times New Roman" panose="02020603050405020304" pitchFamily="18" charset="0"/>
                <a:cs typeface="Times New Roman" panose="02020603050405020304" pitchFamily="18" charset="0"/>
              </a:rPr>
              <a:t>into meaningful, accurate, and actionable insights</a:t>
            </a:r>
            <a:r>
              <a:rPr lang="en-US" sz="1300" dirty="0">
                <a:latin typeface="Times New Roman" panose="02020603050405020304" pitchFamily="18" charset="0"/>
                <a:cs typeface="Times New Roman" panose="02020603050405020304" pitchFamily="18" charset="0"/>
              </a:rPr>
              <a:t> </a:t>
            </a:r>
            <a:r>
              <a:rPr lang="en-US" sz="1300" dirty="0" smtClean="0">
                <a:latin typeface="Times New Roman" panose="02020603050405020304" pitchFamily="18" charset="0"/>
                <a:cs typeface="Times New Roman" panose="02020603050405020304" pitchFamily="18" charset="0"/>
              </a:rPr>
              <a:t>using </a:t>
            </a:r>
            <a:r>
              <a:rPr lang="en-US" sz="1300" dirty="0">
                <a:latin typeface="Times New Roman" panose="02020603050405020304" pitchFamily="18" charset="0"/>
                <a:cs typeface="Times New Roman" panose="02020603050405020304" pitchFamily="18" charset="0"/>
              </a:rPr>
              <a:t>AI-based analytics. This will enable effective evaluation of faculty performance, identification of improvement areas, and enhancement of the overall teaching–learning process </a:t>
            </a:r>
            <a:r>
              <a:rPr lang="en-US" sz="1300" dirty="0" smtClean="0">
                <a:latin typeface="Times New Roman" panose="02020603050405020304" pitchFamily="18" charset="0"/>
                <a:cs typeface="Times New Roman" panose="02020603050405020304" pitchFamily="18" charset="0"/>
              </a:rPr>
              <a:t>of  </a:t>
            </a:r>
            <a:r>
              <a:rPr lang="en-US" sz="1300" dirty="0">
                <a:latin typeface="Times New Roman" panose="02020603050405020304" pitchFamily="18" charset="0"/>
                <a:cs typeface="Times New Roman" panose="02020603050405020304" pitchFamily="18" charset="0"/>
              </a:rPr>
              <a:t>Cost Accounting </a:t>
            </a:r>
            <a:r>
              <a:rPr lang="en-US" sz="1300" dirty="0" smtClean="0">
                <a:latin typeface="Times New Roman" panose="02020603050405020304" pitchFamily="18" charset="0"/>
                <a:cs typeface="Times New Roman" panose="02020603050405020304" pitchFamily="18" charset="0"/>
              </a:rPr>
              <a:t>course of </a:t>
            </a:r>
            <a:r>
              <a:rPr lang="en-US" sz="1300" dirty="0" err="1">
                <a:latin typeface="Times New Roman" panose="02020603050405020304" pitchFamily="18" charset="0"/>
                <a:cs typeface="Times New Roman" panose="02020603050405020304" pitchFamily="18" charset="0"/>
              </a:rPr>
              <a:t>B.Com</a:t>
            </a:r>
            <a:r>
              <a:rPr lang="en-US" sz="1300" dirty="0">
                <a:latin typeface="Times New Roman" panose="02020603050405020304" pitchFamily="18" charset="0"/>
                <a:cs typeface="Times New Roman" panose="02020603050405020304" pitchFamily="18" charset="0"/>
              </a:rPr>
              <a:t> </a:t>
            </a:r>
            <a:r>
              <a:rPr lang="en-US" sz="1300" dirty="0" smtClean="0">
                <a:latin typeface="Times New Roman" panose="02020603050405020304" pitchFamily="18" charset="0"/>
                <a:cs typeface="Times New Roman" panose="02020603050405020304" pitchFamily="18" charset="0"/>
              </a:rPr>
              <a:t>students.</a:t>
            </a:r>
            <a:endParaRPr lang="en-IN" sz="1300" b="1" dirty="0" smtClean="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3374961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6974958" y="1095153"/>
            <a:ext cx="2024159" cy="3548756"/>
          </a:xfrm>
          <a:prstGeom prst="rect">
            <a:avLst/>
          </a:prstGeom>
        </p:spPr>
      </p:pic>
      <p:sp>
        <p:nvSpPr>
          <p:cNvPr id="4" name="Text 2"/>
          <p:cNvSpPr/>
          <p:nvPr/>
        </p:nvSpPr>
        <p:spPr>
          <a:xfrm>
            <a:off x="236043" y="659999"/>
            <a:ext cx="8229600" cy="435154"/>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PROPOSED SOLUTION</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236043" y="1187656"/>
            <a:ext cx="7068523" cy="3363749"/>
          </a:xfrm>
          <a:prstGeom prst="rect">
            <a:avLst/>
          </a:prstGeom>
          <a:noFill/>
          <a:ln/>
        </p:spPr>
        <p:txBody>
          <a:bodyPr wrap="square" rtlCol="0" anchor="t"/>
          <a:lstStyle/>
          <a:p>
            <a:pPr algn="just">
              <a:lnSpc>
                <a:spcPct val="150000"/>
              </a:lnSpc>
            </a:pPr>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solutions emphasize a </a:t>
            </a:r>
            <a:r>
              <a:rPr lang="en-US" sz="1400" b="1" dirty="0" smtClean="0">
                <a:latin typeface="Times New Roman" panose="02020603050405020304" pitchFamily="18" charset="0"/>
                <a:cs typeface="Times New Roman" panose="02020603050405020304" pitchFamily="18" charset="0"/>
              </a:rPr>
              <a:t>M</a:t>
            </a:r>
            <a:r>
              <a:rPr lang="en-US" sz="1400" b="1" dirty="0" smtClean="0">
                <a:latin typeface="Times New Roman" panose="02020603050405020304" pitchFamily="18" charset="0"/>
                <a:cs typeface="Times New Roman" panose="02020603050405020304" pitchFamily="18" charset="0"/>
              </a:rPr>
              <a:t>ulti-Dimensional Analysis Strategy</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integrating teaching quality, </a:t>
            </a:r>
            <a:r>
              <a:rPr lang="en-US" sz="1400" dirty="0" smtClean="0">
                <a:latin typeface="Times New Roman" panose="02020603050405020304" pitchFamily="18" charset="0"/>
                <a:cs typeface="Times New Roman" panose="02020603050405020304" pitchFamily="18" charset="0"/>
              </a:rPr>
              <a:t>Learning outcomes</a:t>
            </a:r>
            <a:r>
              <a:rPr lang="en-US" sz="1400" dirty="0" smtClean="0">
                <a:latin typeface="Times New Roman" panose="02020603050405020304" pitchFamily="18" charset="0"/>
                <a:cs typeface="Times New Roman" panose="02020603050405020304" pitchFamily="18" charset="0"/>
              </a:rPr>
              <a:t>, Scholastic performance of the student, Rating scores dimensions, Improvements area assessment and Performance Evaluation Ranking Results and Decisions.  .</a:t>
            </a:r>
            <a:endParaRPr lang="en-US" sz="14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Develop </a:t>
            </a:r>
            <a:r>
              <a:rPr lang="en-US" sz="1400" dirty="0">
                <a:latin typeface="Times New Roman" panose="02020603050405020304" pitchFamily="18" charset="0"/>
                <a:cs typeface="Times New Roman" panose="02020603050405020304" pitchFamily="18" charset="0"/>
              </a:rPr>
              <a:t>a </a:t>
            </a:r>
            <a:r>
              <a:rPr lang="en-US" sz="1400" dirty="0" smtClean="0">
                <a:latin typeface="Times New Roman" panose="02020603050405020304" pitchFamily="18" charset="0"/>
                <a:cs typeface="Times New Roman" panose="02020603050405020304" pitchFamily="18" charset="0"/>
              </a:rPr>
              <a:t>Teaching quality </a:t>
            </a:r>
            <a:r>
              <a:rPr lang="en-US" sz="1400" dirty="0">
                <a:latin typeface="Times New Roman" panose="02020603050405020304" pitchFamily="18" charset="0"/>
                <a:cs typeface="Times New Roman" panose="02020603050405020304" pitchFamily="18" charset="0"/>
              </a:rPr>
              <a:t>assurance framework </a:t>
            </a:r>
            <a:r>
              <a:rPr lang="en-US" sz="1400" dirty="0" smtClean="0">
                <a:latin typeface="Times New Roman" panose="02020603050405020304" pitchFamily="18" charset="0"/>
                <a:cs typeface="Times New Roman" panose="02020603050405020304" pitchFamily="18" charset="0"/>
              </a:rPr>
              <a:t>teaching </a:t>
            </a:r>
            <a:r>
              <a:rPr lang="en-US" sz="1400" dirty="0">
                <a:latin typeface="Times New Roman" panose="02020603050405020304" pitchFamily="18" charset="0"/>
                <a:cs typeface="Times New Roman" panose="02020603050405020304" pitchFamily="18" charset="0"/>
              </a:rPr>
              <a:t>effectiveness</a:t>
            </a:r>
            <a:r>
              <a:rPr lang="en-US"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Check the Learning Outcome Level</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with Outcome-Based Education (OBE) standards</a:t>
            </a:r>
            <a:r>
              <a:rPr lang="en-US" sz="14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Measure the Scholastic </a:t>
            </a:r>
            <a:r>
              <a:rPr lang="en-US" sz="1400" dirty="0">
                <a:latin typeface="Times New Roman" panose="02020603050405020304" pitchFamily="18" charset="0"/>
                <a:cs typeface="Times New Roman" panose="02020603050405020304" pitchFamily="18" charset="0"/>
              </a:rPr>
              <a:t>performance of the </a:t>
            </a:r>
            <a:r>
              <a:rPr lang="en-US" sz="1400" dirty="0" smtClean="0">
                <a:latin typeface="Times New Roman" panose="02020603050405020304" pitchFamily="18" charset="0"/>
                <a:cs typeface="Times New Roman" panose="02020603050405020304" pitchFamily="18" charset="0"/>
              </a:rPr>
              <a:t>student towards the course and their                        learning experience.</a:t>
            </a:r>
          </a:p>
          <a:p>
            <a:pPr marL="285750" indent="-285750" algn="just">
              <a:lnSpc>
                <a:spcPct val="15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Interprets the Faculty Performance metrics and Students Enhancement in Smart learning</a:t>
            </a:r>
            <a:endParaRPr lang="en-US" sz="1400" dirty="0" smtClean="0">
              <a:latin typeface="Times New Roman" panose="02020603050405020304" pitchFamily="18" charset="0"/>
              <a:cs typeface="Times New Roman" panose="02020603050405020304" pitchFamily="18" charset="0"/>
            </a:endParaRPr>
          </a:p>
          <a:p>
            <a:pPr algn="just">
              <a:lnSpc>
                <a:spcPct val="150000"/>
              </a:lnSpc>
            </a:pPr>
            <a:r>
              <a:rPr lang="en-US" sz="1400" dirty="0" smtClean="0">
                <a:latin typeface="Times New Roman" panose="02020603050405020304" pitchFamily="18" charset="0"/>
                <a:cs typeface="Times New Roman" panose="02020603050405020304" pitchFamily="18" charset="0"/>
              </a:rPr>
              <a:t>This </a:t>
            </a:r>
            <a:r>
              <a:rPr lang="en-US" sz="1400" dirty="0">
                <a:latin typeface="Times New Roman" panose="02020603050405020304" pitchFamily="18" charset="0"/>
                <a:cs typeface="Times New Roman" panose="02020603050405020304" pitchFamily="18" charset="0"/>
              </a:rPr>
              <a:t>approach ensures enhanced </a:t>
            </a:r>
            <a:r>
              <a:rPr lang="en-US" sz="1400" dirty="0" smtClean="0">
                <a:latin typeface="Times New Roman" panose="02020603050405020304" pitchFamily="18" charset="0"/>
                <a:cs typeface="Times New Roman" panose="02020603050405020304" pitchFamily="18" charset="0"/>
              </a:rPr>
              <a:t>Faculty Performance, Student </a:t>
            </a:r>
            <a:r>
              <a:rPr lang="en-US" sz="1400" dirty="0">
                <a:latin typeface="Times New Roman" panose="02020603050405020304" pitchFamily="18" charset="0"/>
                <a:cs typeface="Times New Roman" panose="02020603050405020304" pitchFamily="18" charset="0"/>
              </a:rPr>
              <a:t>satisfaction, </a:t>
            </a:r>
            <a:r>
              <a:rPr lang="en-US" sz="1400" dirty="0" smtClean="0">
                <a:latin typeface="Times New Roman" panose="02020603050405020304" pitchFamily="18" charset="0"/>
                <a:cs typeface="Times New Roman" panose="02020603050405020304" pitchFamily="18" charset="0"/>
              </a:rPr>
              <a:t>Improved </a:t>
            </a:r>
            <a:r>
              <a:rPr lang="en-US" sz="1400" dirty="0">
                <a:latin typeface="Times New Roman" panose="02020603050405020304" pitchFamily="18" charset="0"/>
                <a:cs typeface="Times New Roman" panose="02020603050405020304" pitchFamily="18" charset="0"/>
              </a:rPr>
              <a:t>learning outcomes, and continuous academic excellence in the Cost Accounting </a:t>
            </a:r>
            <a:r>
              <a:rPr lang="en-US" sz="1400" dirty="0" smtClean="0">
                <a:latin typeface="Times New Roman" panose="02020603050405020304" pitchFamily="18" charset="0"/>
                <a:cs typeface="Times New Roman" panose="02020603050405020304" pitchFamily="18" charset="0"/>
              </a:rPr>
              <a:t>course.</a:t>
            </a:r>
            <a:endParaRPr lang="en-US" sz="14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432821333"/>
              </p:ext>
            </p:extLst>
          </p:nvPr>
        </p:nvGraphicFramePr>
        <p:xfrm>
          <a:off x="1350336" y="574163"/>
          <a:ext cx="6741040" cy="4124364"/>
        </p:xfrm>
        <a:graphic>
          <a:graphicData uri="http://schemas.openxmlformats.org/drawingml/2006/table">
            <a:tbl>
              <a:tblPr firstRow="1" firstCol="1" bandRow="1">
                <a:tableStyleId>{5C22544A-7EE6-4342-B048-85BDC9FD1C3A}</a:tableStyleId>
              </a:tblPr>
              <a:tblGrid>
                <a:gridCol w="2009552">
                  <a:extLst>
                    <a:ext uri="{9D8B030D-6E8A-4147-A177-3AD203B41FA5}">
                      <a16:colId xmlns:a16="http://schemas.microsoft.com/office/drawing/2014/main" val="697013144"/>
                    </a:ext>
                  </a:extLst>
                </a:gridCol>
                <a:gridCol w="4731488">
                  <a:extLst>
                    <a:ext uri="{9D8B030D-6E8A-4147-A177-3AD203B41FA5}">
                      <a16:colId xmlns:a16="http://schemas.microsoft.com/office/drawing/2014/main" val="3007472065"/>
                    </a:ext>
                  </a:extLst>
                </a:gridCol>
              </a:tblGrid>
              <a:tr h="348260">
                <a:tc>
                  <a:txBody>
                    <a:bodyPr/>
                    <a:lstStyle/>
                    <a:p>
                      <a:pPr marL="0" marR="0" algn="just">
                        <a:lnSpc>
                          <a:spcPct val="150000"/>
                        </a:lnSpc>
                        <a:spcBef>
                          <a:spcPts val="0"/>
                        </a:spcBef>
                        <a:spcAft>
                          <a:spcPts val="0"/>
                        </a:spcAft>
                      </a:pPr>
                      <a:r>
                        <a:rPr lang="en-US" sz="1300" dirty="0" smtClean="0">
                          <a:effectLst/>
                          <a:latin typeface="Times New Roman" panose="02020603050405020304" pitchFamily="18" charset="0"/>
                          <a:cs typeface="Times New Roman" panose="02020603050405020304" pitchFamily="18" charset="0"/>
                        </a:rPr>
                        <a:t>COURSE </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300" dirty="0">
                          <a:solidFill>
                            <a:schemeClr val="tx1"/>
                          </a:solidFill>
                          <a:effectLst/>
                          <a:latin typeface="Times New Roman" panose="02020603050405020304" pitchFamily="18" charset="0"/>
                          <a:cs typeface="Times New Roman" panose="02020603050405020304" pitchFamily="18" charset="0"/>
                        </a:rPr>
                        <a:t>BACHELOR OF </a:t>
                      </a:r>
                      <a:r>
                        <a:rPr lang="en-US" sz="1300" dirty="0" smtClean="0">
                          <a:solidFill>
                            <a:schemeClr val="tx1"/>
                          </a:solidFill>
                          <a:effectLst/>
                          <a:latin typeface="Times New Roman" panose="02020603050405020304" pitchFamily="18" charset="0"/>
                          <a:cs typeface="Times New Roman" panose="02020603050405020304" pitchFamily="18" charset="0"/>
                        </a:rPr>
                        <a:t>COMMERCE- B.COM</a:t>
                      </a:r>
                      <a:endParaRPr lang="en-US" sz="1300"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rgbClr val="F9C1FA"/>
                    </a:solidFill>
                  </a:tcPr>
                </a:tc>
                <a:extLst>
                  <a:ext uri="{0D108BD9-81ED-4DB2-BD59-A6C34878D82A}">
                    <a16:rowId xmlns:a16="http://schemas.microsoft.com/office/drawing/2014/main" val="4267502535"/>
                  </a:ext>
                </a:extLst>
              </a:tr>
              <a:tr h="1519061">
                <a:tc>
                  <a:txBody>
                    <a:bodyPr/>
                    <a:lstStyle/>
                    <a:p>
                      <a:pPr marL="0" marR="0" algn="just">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SPECIALIZATION</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tabLst>
                          <a:tab pos="2819400" algn="l"/>
                        </a:tabLst>
                      </a:pPr>
                      <a:r>
                        <a:rPr lang="en-US" sz="1300" dirty="0">
                          <a:effectLst/>
                          <a:latin typeface="Times New Roman" panose="02020603050405020304" pitchFamily="18" charset="0"/>
                          <a:cs typeface="Times New Roman" panose="02020603050405020304" pitchFamily="18" charset="0"/>
                        </a:rPr>
                        <a:t>B.COM GENERAL                                  -120 RESPONSES</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B.COM ACCOUNTING &amp; FINANCE    -120 RESPONSES</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B.COM COMPUTER APPLICATIONS  -120 RESPONSES</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B.COM COR.SECRETARYSHIP            -120 RESPONSES       </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rgbClr val="F9C1FA"/>
                    </a:solidFill>
                  </a:tcPr>
                </a:tc>
                <a:extLst>
                  <a:ext uri="{0D108BD9-81ED-4DB2-BD59-A6C34878D82A}">
                    <a16:rowId xmlns:a16="http://schemas.microsoft.com/office/drawing/2014/main" val="1109389356"/>
                  </a:ext>
                </a:extLst>
              </a:tr>
              <a:tr h="348260">
                <a:tc>
                  <a:txBody>
                    <a:bodyPr/>
                    <a:lstStyle/>
                    <a:p>
                      <a:pPr marL="0" marR="0" algn="just">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SUBJECT</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COST ACCOUNTING</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rgbClr val="F9C1FA"/>
                    </a:solidFill>
                  </a:tcPr>
                </a:tc>
                <a:extLst>
                  <a:ext uri="{0D108BD9-81ED-4DB2-BD59-A6C34878D82A}">
                    <a16:rowId xmlns:a16="http://schemas.microsoft.com/office/drawing/2014/main" val="2112185522"/>
                  </a:ext>
                </a:extLst>
              </a:tr>
              <a:tr h="1314423">
                <a:tc>
                  <a:txBody>
                    <a:bodyPr/>
                    <a:lstStyle/>
                    <a:p>
                      <a:pPr marL="0" marR="0" algn="just">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FACULTY NAME</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PROF- MEENA-B.COM-GENERAL</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PROF-SEETHA- B.COM- AF </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PROF-SURESH-B.COM-CA</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 PROF-KUMAR-B.COM-CS</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rgbClr val="F9C1FA"/>
                    </a:solidFill>
                  </a:tcPr>
                </a:tc>
                <a:extLst>
                  <a:ext uri="{0D108BD9-81ED-4DB2-BD59-A6C34878D82A}">
                    <a16:rowId xmlns:a16="http://schemas.microsoft.com/office/drawing/2014/main" val="2967840554"/>
                  </a:ext>
                </a:extLst>
              </a:tr>
              <a:tr h="348260">
                <a:tc>
                  <a:txBody>
                    <a:bodyPr/>
                    <a:lstStyle/>
                    <a:p>
                      <a:pPr marL="0" marR="0" algn="just">
                        <a:lnSpc>
                          <a:spcPct val="150000"/>
                        </a:lnSpc>
                        <a:spcBef>
                          <a:spcPts val="0"/>
                        </a:spcBef>
                        <a:spcAft>
                          <a:spcPts val="0"/>
                        </a:spcAft>
                      </a:pPr>
                      <a:r>
                        <a:rPr lang="en-US" sz="1300" dirty="0" smtClean="0">
                          <a:effectLst/>
                          <a:latin typeface="Times New Roman" panose="02020603050405020304" pitchFamily="18" charset="0"/>
                          <a:cs typeface="Times New Roman" panose="02020603050405020304" pitchFamily="18" charset="0"/>
                        </a:rPr>
                        <a:t>TOTALSTUDENT  RESPONSES</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US" sz="1300" b="1" dirty="0">
                          <a:effectLst/>
                          <a:latin typeface="Times New Roman" panose="02020603050405020304" pitchFamily="18" charset="0"/>
                          <a:cs typeface="Times New Roman" panose="02020603050405020304" pitchFamily="18" charset="0"/>
                        </a:rPr>
                        <a:t>480</a:t>
                      </a:r>
                      <a:endParaRPr lang="en-US" sz="13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rgbClr val="F9C1FA"/>
                    </a:solidFill>
                  </a:tcPr>
                </a:tc>
                <a:extLst>
                  <a:ext uri="{0D108BD9-81ED-4DB2-BD59-A6C34878D82A}">
                    <a16:rowId xmlns:a16="http://schemas.microsoft.com/office/drawing/2014/main" val="4092298927"/>
                  </a:ext>
                </a:extLst>
              </a:tr>
            </a:tbl>
          </a:graphicData>
        </a:graphic>
      </p:graphicFrame>
    </p:spTree>
    <p:extLst>
      <p:ext uri="{BB962C8B-B14F-4D97-AF65-F5344CB8AC3E}">
        <p14:creationId xmlns:p14="http://schemas.microsoft.com/office/powerpoint/2010/main" val="264642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106325" y="535085"/>
            <a:ext cx="5539563" cy="4385816"/>
          </a:xfrm>
          <a:prstGeom prst="rect">
            <a:avLst/>
          </a:prstGeom>
        </p:spPr>
        <p:txBody>
          <a:bodyPr wrap="square">
            <a:spAutoFit/>
          </a:bodyPr>
          <a:lstStyle/>
          <a:p>
            <a:pPr marL="228600" marR="0">
              <a:lnSpc>
                <a:spcPct val="150000"/>
              </a:lnSpc>
              <a:spcBef>
                <a:spcPts val="0"/>
              </a:spcBef>
              <a:spcAft>
                <a:spcPts val="0"/>
              </a:spcAft>
              <a:tabLst>
                <a:tab pos="533400" algn="l"/>
              </a:tabLst>
            </a:pPr>
            <a:r>
              <a:rPr lang="en-US" b="1" dirty="0" smtClean="0">
                <a:latin typeface="Times New Roman" panose="02020603050405020304" pitchFamily="18" charset="0"/>
                <a:ea typeface="Times New Roman" panose="02020603050405020304" pitchFamily="18" charset="0"/>
                <a:cs typeface="Times New Roman" panose="02020603050405020304" pitchFamily="18" charset="0"/>
              </a:rPr>
              <a:t>         Multi Dimensional </a:t>
            </a:r>
            <a:r>
              <a:rPr lang="en-US" b="1" dirty="0">
                <a:latin typeface="Times New Roman" panose="02020603050405020304" pitchFamily="18" charset="0"/>
                <a:ea typeface="Times New Roman" panose="02020603050405020304" pitchFamily="18" charset="0"/>
                <a:cs typeface="Times New Roman" panose="02020603050405020304" pitchFamily="18" charset="0"/>
              </a:rPr>
              <a:t>Feedback Variables </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Syllabus </a:t>
            </a:r>
            <a:r>
              <a:rPr lang="en-US" dirty="0">
                <a:latin typeface="Times New Roman" panose="02020603050405020304" pitchFamily="18" charset="0"/>
                <a:ea typeface="Times New Roman" panose="02020603050405020304" pitchFamily="18" charset="0"/>
                <a:cs typeface="Times New Roman" panose="02020603050405020304" pitchFamily="18" charset="0"/>
              </a:rPr>
              <a:t>Coverage and Preparation -SC</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Communication and Methodology -CM</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Assessment and Feedback -AF</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Growth and Opportunities -GO</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Teaching Support and Engagement -TE</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Skills and Employability –SE</a:t>
            </a:r>
            <a:endParaRPr lang="en-US" dirty="0">
              <a:latin typeface="Times New Roman" panose="02020603050405020304" pitchFamily="18" charset="0"/>
              <a:ea typeface="Arial" panose="020B0604020202020204" pitchFamily="34" charset="0"/>
              <a:cs typeface="Times New Roman" panose="02020603050405020304" pitchFamily="18" charset="0"/>
            </a:endParaRPr>
          </a:p>
          <a:p>
            <a:pPr marL="742950" marR="0" lvl="1" indent="-285750">
              <a:lnSpc>
                <a:spcPct val="200000"/>
              </a:lnSpc>
              <a:spcBef>
                <a:spcPts val="0"/>
              </a:spcBef>
              <a:spcAft>
                <a:spcPts val="0"/>
              </a:spcAft>
              <a:buSzPts val="1000"/>
              <a:buFont typeface="Courier New" panose="02070309020205020404" pitchFamily="49" charset="0"/>
              <a:buChar char="o"/>
              <a:tabLst>
                <a:tab pos="914400" algn="l"/>
              </a:tabLst>
            </a:pPr>
            <a:r>
              <a:rPr lang="en-US" dirty="0">
                <a:latin typeface="Times New Roman" panose="02020603050405020304" pitchFamily="18" charset="0"/>
                <a:ea typeface="Times New Roman" panose="02020603050405020304" pitchFamily="18" charset="0"/>
                <a:cs typeface="Times New Roman" panose="02020603050405020304" pitchFamily="18" charset="0"/>
              </a:rPr>
              <a:t>Student Fulfillment-SF</a:t>
            </a:r>
            <a:endParaRPr lang="en-US" dirty="0">
              <a:effectLst/>
              <a:latin typeface="Times New Roman" panose="02020603050405020304" pitchFamily="18" charset="0"/>
              <a:ea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F1F49F94-4102-44CC-056B-FA1BB4DA8DA6}"/>
              </a:ext>
            </a:extLst>
          </p:cNvPr>
          <p:cNvPicPr>
            <a:picLocks noChangeAspect="1"/>
          </p:cNvPicPr>
          <p:nvPr/>
        </p:nvPicPr>
        <p:blipFill>
          <a:blip r:embed="rId2"/>
          <a:stretch>
            <a:fillRect/>
          </a:stretch>
        </p:blipFill>
        <p:spPr>
          <a:xfrm>
            <a:off x="5518298" y="1169581"/>
            <a:ext cx="3359888" cy="3434317"/>
          </a:xfrm>
          <a:prstGeom prst="rect">
            <a:avLst/>
          </a:prstGeom>
        </p:spPr>
      </p:pic>
    </p:spTree>
    <p:extLst>
      <p:ext uri="{BB962C8B-B14F-4D97-AF65-F5344CB8AC3E}">
        <p14:creationId xmlns:p14="http://schemas.microsoft.com/office/powerpoint/2010/main" val="515354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68796470"/>
              </p:ext>
            </p:extLst>
          </p:nvPr>
        </p:nvGraphicFramePr>
        <p:xfrm>
          <a:off x="74429" y="435934"/>
          <a:ext cx="6634716" cy="4540104"/>
        </p:xfrm>
        <a:graphic>
          <a:graphicData uri="http://schemas.openxmlformats.org/drawingml/2006/table">
            <a:tbl>
              <a:tblPr firstRow="1" firstCol="1" bandRow="1">
                <a:tableStyleId>{5C22544A-7EE6-4342-B048-85BDC9FD1C3A}</a:tableStyleId>
              </a:tblPr>
              <a:tblGrid>
                <a:gridCol w="2361510">
                  <a:extLst>
                    <a:ext uri="{9D8B030D-6E8A-4147-A177-3AD203B41FA5}">
                      <a16:colId xmlns:a16="http://schemas.microsoft.com/office/drawing/2014/main" val="2031690262"/>
                    </a:ext>
                  </a:extLst>
                </a:gridCol>
                <a:gridCol w="4273206">
                  <a:extLst>
                    <a:ext uri="{9D8B030D-6E8A-4147-A177-3AD203B41FA5}">
                      <a16:colId xmlns:a16="http://schemas.microsoft.com/office/drawing/2014/main" val="3568917529"/>
                    </a:ext>
                  </a:extLst>
                </a:gridCol>
              </a:tblGrid>
              <a:tr h="1513368">
                <a:tc>
                  <a:txBody>
                    <a:bodyPr/>
                    <a:lstStyle/>
                    <a:p>
                      <a:pPr marL="0" marR="0">
                        <a:lnSpc>
                          <a:spcPct val="150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Syllabus Coverage and Preparation (SC)</a:t>
                      </a:r>
                      <a:endParaRPr lang="en-US"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tc>
                <a:tc>
                  <a:txBody>
                    <a:bodyPr/>
                    <a:lstStyle/>
                    <a:p>
                      <a:pPr marL="0" marR="0">
                        <a:lnSpc>
                          <a:spcPct val="150000"/>
                        </a:lnSpc>
                        <a:spcBef>
                          <a:spcPts val="0"/>
                        </a:spcBef>
                        <a:spcAft>
                          <a:spcPts val="0"/>
                        </a:spcAft>
                      </a:pPr>
                      <a:r>
                        <a:rPr lang="en-IN" sz="1300" b="0" dirty="0">
                          <a:solidFill>
                            <a:schemeClr val="tx1"/>
                          </a:solidFill>
                          <a:effectLst/>
                          <a:latin typeface="Times New Roman" panose="02020603050405020304" pitchFamily="18" charset="0"/>
                          <a:cs typeface="Times New Roman" panose="02020603050405020304" pitchFamily="18" charset="0"/>
                        </a:rPr>
                        <a:t>SC_Q1: </a:t>
                      </a:r>
                      <a:r>
                        <a:rPr lang="en-US" sz="1300" b="0" dirty="0">
                          <a:solidFill>
                            <a:schemeClr val="tx1"/>
                          </a:solidFill>
                          <a:effectLst/>
                          <a:latin typeface="Times New Roman" panose="02020603050405020304" pitchFamily="18" charset="0"/>
                          <a:cs typeface="Times New Roman" panose="02020603050405020304" pitchFamily="18" charset="0"/>
                        </a:rPr>
                        <a:t>Defined Syllabus clarity</a:t>
                      </a:r>
                    </a:p>
                    <a:p>
                      <a:pPr marL="0" marR="0">
                        <a:lnSpc>
                          <a:spcPct val="150000"/>
                        </a:lnSpc>
                        <a:spcBef>
                          <a:spcPts val="0"/>
                        </a:spcBef>
                        <a:spcAft>
                          <a:spcPts val="0"/>
                        </a:spcAft>
                      </a:pPr>
                      <a:r>
                        <a:rPr lang="en-US" sz="1300" b="0" dirty="0">
                          <a:solidFill>
                            <a:schemeClr val="tx1"/>
                          </a:solidFill>
                          <a:effectLst/>
                          <a:latin typeface="Times New Roman" panose="02020603050405020304" pitchFamily="18" charset="0"/>
                          <a:cs typeface="Times New Roman" panose="02020603050405020304" pitchFamily="18" charset="0"/>
                        </a:rPr>
                        <a:t>SC_Q2: Planned Schedule adherence</a:t>
                      </a:r>
                    </a:p>
                    <a:p>
                      <a:pPr marL="0" marR="0">
                        <a:lnSpc>
                          <a:spcPct val="150000"/>
                        </a:lnSpc>
                        <a:spcBef>
                          <a:spcPts val="0"/>
                        </a:spcBef>
                        <a:spcAft>
                          <a:spcPts val="0"/>
                        </a:spcAft>
                      </a:pPr>
                      <a:r>
                        <a:rPr lang="en-US" sz="1300" b="0" dirty="0">
                          <a:solidFill>
                            <a:schemeClr val="tx1"/>
                          </a:solidFill>
                          <a:effectLst/>
                          <a:latin typeface="Times New Roman" panose="02020603050405020304" pitchFamily="18" charset="0"/>
                          <a:cs typeface="Times New Roman" panose="02020603050405020304" pitchFamily="18" charset="0"/>
                        </a:rPr>
                        <a:t>SC_Q3: Adequate Topic explanation</a:t>
                      </a:r>
                    </a:p>
                    <a:p>
                      <a:pPr marL="0" marR="0">
                        <a:lnSpc>
                          <a:spcPct val="150000"/>
                        </a:lnSpc>
                        <a:spcBef>
                          <a:spcPts val="0"/>
                        </a:spcBef>
                        <a:spcAft>
                          <a:spcPts val="0"/>
                        </a:spcAft>
                      </a:pPr>
                      <a:r>
                        <a:rPr lang="en-US" sz="1300" b="0" dirty="0">
                          <a:solidFill>
                            <a:schemeClr val="tx1"/>
                          </a:solidFill>
                          <a:effectLst/>
                          <a:latin typeface="Times New Roman" panose="02020603050405020304" pitchFamily="18" charset="0"/>
                          <a:cs typeface="Times New Roman" panose="02020603050405020304" pitchFamily="18" charset="0"/>
                        </a:rPr>
                        <a:t>SC_Q4: Sufficient Lecture preparation</a:t>
                      </a:r>
                    </a:p>
                    <a:p>
                      <a:pPr marL="0" marR="0">
                        <a:lnSpc>
                          <a:spcPct val="150000"/>
                        </a:lnSpc>
                        <a:spcBef>
                          <a:spcPts val="0"/>
                        </a:spcBef>
                        <a:spcAft>
                          <a:spcPts val="0"/>
                        </a:spcAft>
                      </a:pPr>
                      <a:r>
                        <a:rPr lang="en-US" sz="1300" b="0" dirty="0">
                          <a:solidFill>
                            <a:schemeClr val="tx1"/>
                          </a:solidFill>
                          <a:effectLst/>
                          <a:latin typeface="Times New Roman" panose="02020603050405020304" pitchFamily="18" charset="0"/>
                          <a:cs typeface="Times New Roman" panose="02020603050405020304" pitchFamily="18" charset="0"/>
                        </a:rPr>
                        <a:t>SC_Q5: Structured learning Framework</a:t>
                      </a:r>
                      <a:endParaRPr lang="en-US" sz="1300" b="0"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solidFill>
                      <a:schemeClr val="accent6">
                        <a:lumMod val="60000"/>
                        <a:lumOff val="40000"/>
                      </a:schemeClr>
                    </a:solidFill>
                  </a:tcPr>
                </a:tc>
                <a:extLst>
                  <a:ext uri="{0D108BD9-81ED-4DB2-BD59-A6C34878D82A}">
                    <a16:rowId xmlns:a16="http://schemas.microsoft.com/office/drawing/2014/main" val="169200672"/>
                  </a:ext>
                </a:extLst>
              </a:tr>
              <a:tr h="1513368">
                <a:tc>
                  <a:txBody>
                    <a:bodyPr/>
                    <a:lstStyle/>
                    <a:p>
                      <a:pPr marL="0" marR="0">
                        <a:lnSpc>
                          <a:spcPct val="150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Communication and Methodology (CM)</a:t>
                      </a:r>
                      <a:endParaRPr lang="en-US"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tc>
                <a:tc>
                  <a:txBody>
                    <a:bodyPr/>
                    <a:lstStyle/>
                    <a:p>
                      <a:pPr marL="0" marR="0">
                        <a:lnSpc>
                          <a:spcPct val="150000"/>
                        </a:lnSpc>
                        <a:spcBef>
                          <a:spcPts val="0"/>
                        </a:spcBef>
                        <a:spcAft>
                          <a:spcPts val="0"/>
                        </a:spcAft>
                      </a:pPr>
                      <a:r>
                        <a:rPr lang="en-IN" sz="1300" dirty="0">
                          <a:effectLst/>
                          <a:latin typeface="Times New Roman" panose="02020603050405020304" pitchFamily="18" charset="0"/>
                          <a:cs typeface="Times New Roman" panose="02020603050405020304" pitchFamily="18" charset="0"/>
                        </a:rPr>
                        <a:t>CM_Q1: </a:t>
                      </a:r>
                      <a:r>
                        <a:rPr lang="en-US" sz="1300" dirty="0">
                          <a:effectLst/>
                          <a:latin typeface="Times New Roman" panose="02020603050405020304" pitchFamily="18" charset="0"/>
                          <a:cs typeface="Times New Roman" panose="02020603050405020304" pitchFamily="18" charset="0"/>
                        </a:rPr>
                        <a:t>Concepts clarity</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CM_Q2: Appropriate Teaching Method</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CM_Q3: Real time Examples and Illustrations</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CM_Q4: Good Teaching Pace</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CM_Q5: Immediate Query Resolution</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solidFill>
                      <a:schemeClr val="accent4"/>
                    </a:solidFill>
                  </a:tcPr>
                </a:tc>
                <a:extLst>
                  <a:ext uri="{0D108BD9-81ED-4DB2-BD59-A6C34878D82A}">
                    <a16:rowId xmlns:a16="http://schemas.microsoft.com/office/drawing/2014/main" val="294849704"/>
                  </a:ext>
                </a:extLst>
              </a:tr>
              <a:tr h="1513368">
                <a:tc>
                  <a:txBody>
                    <a:bodyPr/>
                    <a:lstStyle/>
                    <a:p>
                      <a:pPr marL="0" marR="0">
                        <a:lnSpc>
                          <a:spcPct val="150000"/>
                        </a:lnSpc>
                        <a:spcBef>
                          <a:spcPts val="0"/>
                        </a:spcBef>
                        <a:spcAft>
                          <a:spcPts val="0"/>
                        </a:spcAft>
                      </a:pPr>
                      <a:r>
                        <a:rPr lang="en-US" sz="1400" dirty="0">
                          <a:effectLst/>
                          <a:latin typeface="Times New Roman" panose="02020603050405020304" pitchFamily="18" charset="0"/>
                          <a:cs typeface="Times New Roman" panose="02020603050405020304" pitchFamily="18" charset="0"/>
                        </a:rPr>
                        <a:t>Assessment and Feedback (AF)</a:t>
                      </a:r>
                      <a:endParaRPr lang="en-US"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tc>
                <a:tc>
                  <a:txBody>
                    <a:bodyPr/>
                    <a:lstStyle/>
                    <a:p>
                      <a:pPr marL="0" marR="0">
                        <a:lnSpc>
                          <a:spcPct val="150000"/>
                        </a:lnSpc>
                        <a:spcBef>
                          <a:spcPts val="0"/>
                        </a:spcBef>
                        <a:spcAft>
                          <a:spcPts val="0"/>
                        </a:spcAft>
                      </a:pPr>
                      <a:r>
                        <a:rPr lang="en-IN" sz="1300" dirty="0">
                          <a:effectLst/>
                          <a:latin typeface="Times New Roman" panose="02020603050405020304" pitchFamily="18" charset="0"/>
                          <a:cs typeface="Times New Roman" panose="02020603050405020304" pitchFamily="18" charset="0"/>
                        </a:rPr>
                        <a:t>AF_Q1: </a:t>
                      </a:r>
                      <a:r>
                        <a:rPr lang="en-US" sz="1300" dirty="0">
                          <a:effectLst/>
                          <a:latin typeface="Times New Roman" panose="02020603050405020304" pitchFamily="18" charset="0"/>
                          <a:cs typeface="Times New Roman" panose="02020603050405020304" pitchFamily="18" charset="0"/>
                        </a:rPr>
                        <a:t>Regular Assessment</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AF_Q2: Exam Oriented Revision</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AF_Q3: Timely Feedback</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AF_Q4: Monitor Performance Status</a:t>
                      </a:r>
                    </a:p>
                    <a:p>
                      <a:pPr marL="0" marR="0">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AF_Q5: Evaluation Transparency</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081" marR="52081" marT="0" marB="0">
                    <a:solidFill>
                      <a:schemeClr val="accent2"/>
                    </a:solidFill>
                  </a:tcPr>
                </a:tc>
                <a:extLst>
                  <a:ext uri="{0D108BD9-81ED-4DB2-BD59-A6C34878D82A}">
                    <a16:rowId xmlns:a16="http://schemas.microsoft.com/office/drawing/2014/main" val="1627398706"/>
                  </a:ext>
                </a:extLst>
              </a:tr>
            </a:tbl>
          </a:graphicData>
        </a:graphic>
      </p:graphicFrame>
      <p:pic>
        <p:nvPicPr>
          <p:cNvPr id="4" name="Picture 3">
            <a:extLst>
              <a:ext uri="{FF2B5EF4-FFF2-40B4-BE49-F238E27FC236}">
                <a16:creationId xmlns:a16="http://schemas.microsoft.com/office/drawing/2014/main" id="{F1F49F94-4102-44CC-056B-FA1BB4DA8DA6}"/>
              </a:ext>
            </a:extLst>
          </p:cNvPr>
          <p:cNvPicPr>
            <a:picLocks noChangeAspect="1"/>
          </p:cNvPicPr>
          <p:nvPr/>
        </p:nvPicPr>
        <p:blipFill>
          <a:blip r:embed="rId2"/>
          <a:stretch>
            <a:fillRect/>
          </a:stretch>
        </p:blipFill>
        <p:spPr>
          <a:xfrm>
            <a:off x="6709144" y="1765004"/>
            <a:ext cx="2434856" cy="2966483"/>
          </a:xfrm>
          <a:prstGeom prst="rect">
            <a:avLst/>
          </a:prstGeom>
        </p:spPr>
      </p:pic>
      <p:sp>
        <p:nvSpPr>
          <p:cNvPr id="5" name="Rectangle 4"/>
          <p:cNvSpPr/>
          <p:nvPr/>
        </p:nvSpPr>
        <p:spPr>
          <a:xfrm>
            <a:off x="6836736" y="861238"/>
            <a:ext cx="2179674" cy="146729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chemeClr val="tx1"/>
                </a:solidFill>
                <a:latin typeface="Times New Roman" panose="02020603050405020304" pitchFamily="18" charset="0"/>
                <a:cs typeface="Times New Roman" panose="02020603050405020304" pitchFamily="18" charset="0"/>
              </a:rPr>
              <a:t>TEACHING EXCELLENCE ANALYTICS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33239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9" y="440267"/>
            <a:ext cx="7044267" cy="4538134"/>
          </a:xfrm>
          <a:prstGeom prst="rect">
            <a:avLst/>
          </a:prstGeom>
        </p:spPr>
      </p:pic>
      <p:sp>
        <p:nvSpPr>
          <p:cNvPr id="4" name="Rectangle 3"/>
          <p:cNvSpPr/>
          <p:nvPr/>
        </p:nvSpPr>
        <p:spPr>
          <a:xfrm>
            <a:off x="7134578" y="880533"/>
            <a:ext cx="1881831" cy="288995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SC- PULSE</a:t>
            </a:r>
            <a:endParaRPr lang="en-US" sz="1400" b="1" dirty="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SYLLABUS COVERAGE AND PREPARATION </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PROF.MEENA</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75947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363" y="437851"/>
            <a:ext cx="6243016" cy="4551837"/>
          </a:xfrm>
          <a:prstGeom prst="rect">
            <a:avLst/>
          </a:prstGeom>
        </p:spPr>
      </p:pic>
      <p:sp>
        <p:nvSpPr>
          <p:cNvPr id="3" name="Rectangle 2"/>
          <p:cNvSpPr/>
          <p:nvPr/>
        </p:nvSpPr>
        <p:spPr>
          <a:xfrm>
            <a:off x="6671733" y="880533"/>
            <a:ext cx="2344676" cy="288995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CM-PULSE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COMMUNICATION AND METHODOLOGY</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PROF.SEETHA</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602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22" y="508000"/>
            <a:ext cx="6073421" cy="4368800"/>
          </a:xfrm>
          <a:prstGeom prst="rect">
            <a:avLst/>
          </a:prstGeom>
        </p:spPr>
      </p:pic>
      <p:sp>
        <p:nvSpPr>
          <p:cNvPr id="3" name="Rectangle 2"/>
          <p:cNvSpPr/>
          <p:nvPr/>
        </p:nvSpPr>
        <p:spPr>
          <a:xfrm>
            <a:off x="6502400" y="880533"/>
            <a:ext cx="2427111" cy="3149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AF-PULSE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ASSESSMENT AND FEEDBACK </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PROF.SEETHA</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1206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34802164"/>
              </p:ext>
            </p:extLst>
          </p:nvPr>
        </p:nvGraphicFramePr>
        <p:xfrm>
          <a:off x="202020" y="680485"/>
          <a:ext cx="5263115" cy="3986444"/>
        </p:xfrm>
        <a:graphic>
          <a:graphicData uri="http://schemas.openxmlformats.org/drawingml/2006/table">
            <a:tbl>
              <a:tblPr firstRow="1" firstCol="1" bandRow="1">
                <a:tableStyleId>{5C22544A-7EE6-4342-B048-85BDC9FD1C3A}</a:tableStyleId>
              </a:tblPr>
              <a:tblGrid>
                <a:gridCol w="2253726">
                  <a:extLst>
                    <a:ext uri="{9D8B030D-6E8A-4147-A177-3AD203B41FA5}">
                      <a16:colId xmlns:a16="http://schemas.microsoft.com/office/drawing/2014/main" val="3420575873"/>
                    </a:ext>
                  </a:extLst>
                </a:gridCol>
                <a:gridCol w="3009389">
                  <a:extLst>
                    <a:ext uri="{9D8B030D-6E8A-4147-A177-3AD203B41FA5}">
                      <a16:colId xmlns:a16="http://schemas.microsoft.com/office/drawing/2014/main" val="734383893"/>
                    </a:ext>
                  </a:extLst>
                </a:gridCol>
              </a:tblGrid>
              <a:tr h="2018648">
                <a:tc>
                  <a:txBody>
                    <a:bodyPr/>
                    <a:lstStyle/>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r>
                        <a:rPr lang="en-IN" sz="1400" dirty="0" smtClean="0">
                          <a:effectLst/>
                          <a:latin typeface="Times New Roman" panose="02020603050405020304" pitchFamily="18" charset="0"/>
                          <a:cs typeface="Times New Roman" panose="02020603050405020304" pitchFamily="18" charset="0"/>
                        </a:rPr>
                        <a:t>Growth </a:t>
                      </a:r>
                      <a:r>
                        <a:rPr lang="en-IN" sz="1400" dirty="0">
                          <a:effectLst/>
                          <a:latin typeface="Times New Roman" panose="02020603050405020304" pitchFamily="18" charset="0"/>
                          <a:cs typeface="Times New Roman" panose="02020603050405020304" pitchFamily="18" charset="0"/>
                        </a:rPr>
                        <a:t>and Opportunities (GO)</a:t>
                      </a:r>
                      <a:endParaRPr lang="en-US"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352" marR="52352" marT="0" marB="0"/>
                </a:tc>
                <a:tc>
                  <a:txBody>
                    <a:bodyPr/>
                    <a:lstStyle/>
                    <a:p>
                      <a:pPr marL="0" marR="0">
                        <a:lnSpc>
                          <a:spcPct val="150000"/>
                        </a:lnSpc>
                        <a:spcBef>
                          <a:spcPts val="0"/>
                        </a:spcBef>
                        <a:spcAft>
                          <a:spcPts val="0"/>
                        </a:spcAft>
                      </a:pPr>
                      <a:r>
                        <a:rPr lang="en-IN" sz="1400" dirty="0">
                          <a:solidFill>
                            <a:schemeClr val="tx1"/>
                          </a:solidFill>
                          <a:effectLst/>
                          <a:latin typeface="Times New Roman" panose="02020603050405020304" pitchFamily="18" charset="0"/>
                          <a:cs typeface="Times New Roman" panose="02020603050405020304" pitchFamily="18" charset="0"/>
                        </a:rPr>
                        <a:t>GO_Q1: </a:t>
                      </a:r>
                      <a:r>
                        <a:rPr lang="en-US" sz="1400" dirty="0">
                          <a:solidFill>
                            <a:schemeClr val="tx1"/>
                          </a:solidFill>
                          <a:effectLst/>
                          <a:latin typeface="Times New Roman" panose="02020603050405020304" pitchFamily="18" charset="0"/>
                          <a:cs typeface="Times New Roman" panose="02020603050405020304" pitchFamily="18" charset="0"/>
                        </a:rPr>
                        <a:t>Analytical Skills</a:t>
                      </a:r>
                      <a:r>
                        <a:rPr lang="en-IN" sz="1400" dirty="0">
                          <a:solidFill>
                            <a:schemeClr val="tx1"/>
                          </a:solidFill>
                          <a:effectLst/>
                          <a:latin typeface="Times New Roman" panose="02020603050405020304" pitchFamily="18" charset="0"/>
                          <a:cs typeface="Times New Roman" panose="02020603050405020304" pitchFamily="18" charset="0"/>
                        </a:rPr>
                        <a:t> </a:t>
                      </a:r>
                      <a:endParaRPr lang="en-US" sz="1400" dirty="0">
                        <a:solidFill>
                          <a:schemeClr val="tx1"/>
                        </a:solidFill>
                        <a:effectLst/>
                        <a:latin typeface="Times New Roman" panose="02020603050405020304" pitchFamily="18" charset="0"/>
                        <a:cs typeface="Times New Roman" panose="02020603050405020304" pitchFamily="18" charset="0"/>
                      </a:endParaRPr>
                    </a:p>
                    <a:p>
                      <a:pPr marL="0" marR="0">
                        <a:lnSpc>
                          <a:spcPct val="150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GO_Q2: Practical Application</a:t>
                      </a:r>
                    </a:p>
                    <a:p>
                      <a:pPr marL="0" marR="0">
                        <a:lnSpc>
                          <a:spcPct val="150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GO_Q3: Academic Growth</a:t>
                      </a:r>
                    </a:p>
                    <a:p>
                      <a:pPr marL="0" marR="0">
                        <a:lnSpc>
                          <a:spcPct val="150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GO_Q4: Student Participation</a:t>
                      </a:r>
                    </a:p>
                    <a:p>
                      <a:pPr marL="0" marR="0">
                        <a:lnSpc>
                          <a:spcPct val="150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GO_Q5: Career Growth</a:t>
                      </a:r>
                      <a:endParaRPr lang="en-US" sz="1400"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52352" marR="52352" marT="0" marB="0">
                    <a:solidFill>
                      <a:schemeClr val="accent2">
                        <a:lumMod val="60000"/>
                        <a:lumOff val="40000"/>
                      </a:schemeClr>
                    </a:solidFill>
                  </a:tcPr>
                </a:tc>
                <a:extLst>
                  <a:ext uri="{0D108BD9-81ED-4DB2-BD59-A6C34878D82A}">
                    <a16:rowId xmlns:a16="http://schemas.microsoft.com/office/drawing/2014/main" val="2610953180"/>
                  </a:ext>
                </a:extLst>
              </a:tr>
              <a:tr h="1967796">
                <a:tc>
                  <a:txBody>
                    <a:bodyPr/>
                    <a:lstStyle/>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endParaRPr lang="en-IN" sz="1400" dirty="0" smtClean="0">
                        <a:effectLst/>
                        <a:latin typeface="Times New Roman" panose="02020603050405020304" pitchFamily="18" charset="0"/>
                        <a:cs typeface="Times New Roman" panose="02020603050405020304" pitchFamily="18" charset="0"/>
                      </a:endParaRPr>
                    </a:p>
                    <a:p>
                      <a:pPr marL="0" marR="0" algn="ctr">
                        <a:spcBef>
                          <a:spcPts val="0"/>
                        </a:spcBef>
                        <a:spcAft>
                          <a:spcPts val="0"/>
                        </a:spcAft>
                      </a:pPr>
                      <a:r>
                        <a:rPr lang="en-IN" sz="1400" dirty="0" smtClean="0">
                          <a:effectLst/>
                          <a:latin typeface="Times New Roman" panose="02020603050405020304" pitchFamily="18" charset="0"/>
                          <a:cs typeface="Times New Roman" panose="02020603050405020304" pitchFamily="18" charset="0"/>
                        </a:rPr>
                        <a:t>Skills </a:t>
                      </a:r>
                      <a:r>
                        <a:rPr lang="en-IN" sz="1400" dirty="0">
                          <a:effectLst/>
                          <a:latin typeface="Times New Roman" panose="02020603050405020304" pitchFamily="18" charset="0"/>
                          <a:cs typeface="Times New Roman" panose="02020603050405020304" pitchFamily="18" charset="0"/>
                        </a:rPr>
                        <a:t>and Employability (SE)</a:t>
                      </a:r>
                      <a:endParaRPr lang="en-US" sz="14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352" marR="52352" marT="0" marB="0"/>
                </a:tc>
                <a:tc>
                  <a:txBody>
                    <a:bodyPr/>
                    <a:lstStyle/>
                    <a:p>
                      <a:pPr marL="0" marR="0">
                        <a:lnSpc>
                          <a:spcPct val="150000"/>
                        </a:lnSpc>
                        <a:spcBef>
                          <a:spcPts val="0"/>
                        </a:spcBef>
                        <a:spcAft>
                          <a:spcPts val="0"/>
                        </a:spcAft>
                      </a:pPr>
                      <a:r>
                        <a:rPr lang="en-IN" sz="1400" b="1" dirty="0">
                          <a:effectLst/>
                          <a:latin typeface="Times New Roman" panose="02020603050405020304" pitchFamily="18" charset="0"/>
                          <a:cs typeface="Times New Roman" panose="02020603050405020304" pitchFamily="18" charset="0"/>
                        </a:rPr>
                        <a:t>SE_Q1: </a:t>
                      </a:r>
                      <a:r>
                        <a:rPr lang="en-US" sz="1400" b="1" dirty="0">
                          <a:effectLst/>
                          <a:latin typeface="Times New Roman" panose="02020603050405020304" pitchFamily="18" charset="0"/>
                          <a:cs typeface="Times New Roman" panose="02020603050405020304" pitchFamily="18" charset="0"/>
                        </a:rPr>
                        <a:t>Practical Skills</a:t>
                      </a:r>
                    </a:p>
                    <a:p>
                      <a:pPr marL="0" marR="0">
                        <a:lnSpc>
                          <a:spcPct val="150000"/>
                        </a:lnSpc>
                        <a:spcBef>
                          <a:spcPts val="0"/>
                        </a:spcBef>
                        <a:spcAft>
                          <a:spcPts val="0"/>
                        </a:spcAft>
                      </a:pPr>
                      <a:r>
                        <a:rPr lang="en-US" sz="1400" b="1" dirty="0">
                          <a:effectLst/>
                          <a:latin typeface="Times New Roman" panose="02020603050405020304" pitchFamily="18" charset="0"/>
                          <a:cs typeface="Times New Roman" panose="02020603050405020304" pitchFamily="18" charset="0"/>
                        </a:rPr>
                        <a:t>SE_Q2: Industry Relevance</a:t>
                      </a:r>
                    </a:p>
                    <a:p>
                      <a:pPr marL="0" marR="0">
                        <a:lnSpc>
                          <a:spcPct val="150000"/>
                        </a:lnSpc>
                        <a:spcBef>
                          <a:spcPts val="0"/>
                        </a:spcBef>
                        <a:spcAft>
                          <a:spcPts val="0"/>
                        </a:spcAft>
                      </a:pPr>
                      <a:r>
                        <a:rPr lang="en-US" sz="1400" b="1" dirty="0">
                          <a:effectLst/>
                          <a:latin typeface="Times New Roman" panose="02020603050405020304" pitchFamily="18" charset="0"/>
                          <a:cs typeface="Times New Roman" panose="02020603050405020304" pitchFamily="18" charset="0"/>
                        </a:rPr>
                        <a:t>SE_Q3: Decision Making</a:t>
                      </a:r>
                    </a:p>
                    <a:p>
                      <a:pPr marL="0" marR="0">
                        <a:lnSpc>
                          <a:spcPct val="150000"/>
                        </a:lnSpc>
                        <a:spcBef>
                          <a:spcPts val="0"/>
                        </a:spcBef>
                        <a:spcAft>
                          <a:spcPts val="0"/>
                        </a:spcAft>
                      </a:pPr>
                      <a:r>
                        <a:rPr lang="en-US" sz="1400" b="1" dirty="0">
                          <a:effectLst/>
                          <a:latin typeface="Times New Roman" panose="02020603050405020304" pitchFamily="18" charset="0"/>
                          <a:cs typeface="Times New Roman" panose="02020603050405020304" pitchFamily="18" charset="0"/>
                        </a:rPr>
                        <a:t>SE_Q4: Employment Utility</a:t>
                      </a:r>
                    </a:p>
                    <a:p>
                      <a:pPr marL="0" marR="0">
                        <a:lnSpc>
                          <a:spcPct val="150000"/>
                        </a:lnSpc>
                        <a:spcBef>
                          <a:spcPts val="0"/>
                        </a:spcBef>
                        <a:spcAft>
                          <a:spcPts val="0"/>
                        </a:spcAft>
                      </a:pPr>
                      <a:r>
                        <a:rPr lang="en-US" sz="1400" b="1" dirty="0">
                          <a:effectLst/>
                          <a:latin typeface="Times New Roman" panose="02020603050405020304" pitchFamily="18" charset="0"/>
                          <a:cs typeface="Times New Roman" panose="02020603050405020304" pitchFamily="18" charset="0"/>
                        </a:rPr>
                        <a:t>SE_Q5: Professional Foundation</a:t>
                      </a:r>
                      <a:endParaRPr lang="en-US" sz="14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2352" marR="52352" marT="0" marB="0">
                    <a:solidFill>
                      <a:srgbClr val="FFC000"/>
                    </a:solidFill>
                  </a:tcPr>
                </a:tc>
                <a:extLst>
                  <a:ext uri="{0D108BD9-81ED-4DB2-BD59-A6C34878D82A}">
                    <a16:rowId xmlns:a16="http://schemas.microsoft.com/office/drawing/2014/main" val="408241356"/>
                  </a:ext>
                </a:extLst>
              </a:tr>
            </a:tbl>
          </a:graphicData>
        </a:graphic>
      </p:graphicFrame>
      <p:pic>
        <p:nvPicPr>
          <p:cNvPr id="3" name="Picture 2">
            <a:extLst>
              <a:ext uri="{FF2B5EF4-FFF2-40B4-BE49-F238E27FC236}">
                <a16:creationId xmlns:a16="http://schemas.microsoft.com/office/drawing/2014/main" id="{F1F49F94-4102-44CC-056B-FA1BB4DA8DA6}"/>
              </a:ext>
            </a:extLst>
          </p:cNvPr>
          <p:cNvPicPr>
            <a:picLocks noChangeAspect="1"/>
          </p:cNvPicPr>
          <p:nvPr/>
        </p:nvPicPr>
        <p:blipFill>
          <a:blip r:embed="rId2"/>
          <a:stretch>
            <a:fillRect/>
          </a:stretch>
        </p:blipFill>
        <p:spPr>
          <a:xfrm>
            <a:off x="5717753" y="2842352"/>
            <a:ext cx="3260993" cy="1846606"/>
          </a:xfrm>
          <a:prstGeom prst="rect">
            <a:avLst/>
          </a:prstGeom>
        </p:spPr>
      </p:pic>
      <p:sp>
        <p:nvSpPr>
          <p:cNvPr id="5" name="Rectangle 4"/>
          <p:cNvSpPr/>
          <p:nvPr/>
        </p:nvSpPr>
        <p:spPr>
          <a:xfrm>
            <a:off x="6125380" y="1023096"/>
            <a:ext cx="2555912" cy="1661625"/>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chemeClr val="tx1"/>
                </a:solidFill>
                <a:latin typeface="Times New Roman" panose="02020603050405020304" pitchFamily="18" charset="0"/>
                <a:cs typeface="Times New Roman" panose="02020603050405020304" pitchFamily="18" charset="0"/>
              </a:rPr>
              <a:t>LEARNING OUTCOME  EXCELLENCE ANALYTICS</a:t>
            </a:r>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7125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3822"/>
            <a:ext cx="6479822" cy="4560712"/>
          </a:xfrm>
          <a:prstGeom prst="rect">
            <a:avLst/>
          </a:prstGeom>
        </p:spPr>
      </p:pic>
      <p:sp>
        <p:nvSpPr>
          <p:cNvPr id="3" name="Rectangle 2"/>
          <p:cNvSpPr/>
          <p:nvPr/>
        </p:nvSpPr>
        <p:spPr>
          <a:xfrm>
            <a:off x="6739467" y="880533"/>
            <a:ext cx="2190044" cy="3149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GO-PULSE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GROWTH AND OPPORTUNITIES </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PROF.MEENA</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PROF.SURESH</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8211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0889"/>
            <a:ext cx="6524978" cy="4007555"/>
          </a:xfrm>
          <a:prstGeom prst="rect">
            <a:avLst/>
          </a:prstGeom>
        </p:spPr>
      </p:pic>
      <p:sp>
        <p:nvSpPr>
          <p:cNvPr id="3" name="Rectangle 2"/>
          <p:cNvSpPr/>
          <p:nvPr/>
        </p:nvSpPr>
        <p:spPr>
          <a:xfrm>
            <a:off x="6762044" y="880533"/>
            <a:ext cx="2167467" cy="3149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SE-PULSE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SKILLS AND EMPLOYABILITY</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PROF.MEENA</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0740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494520039"/>
              </p:ext>
            </p:extLst>
          </p:nvPr>
        </p:nvGraphicFramePr>
        <p:xfrm>
          <a:off x="404038" y="733648"/>
          <a:ext cx="6188148" cy="1806352"/>
        </p:xfrm>
        <a:graphic>
          <a:graphicData uri="http://schemas.openxmlformats.org/drawingml/2006/table">
            <a:tbl>
              <a:tblPr firstRow="1" firstCol="1" bandRow="1">
                <a:tableStyleId>{5C22544A-7EE6-4342-B048-85BDC9FD1C3A}</a:tableStyleId>
              </a:tblPr>
              <a:tblGrid>
                <a:gridCol w="2916953">
                  <a:extLst>
                    <a:ext uri="{9D8B030D-6E8A-4147-A177-3AD203B41FA5}">
                      <a16:colId xmlns:a16="http://schemas.microsoft.com/office/drawing/2014/main" val="367783727"/>
                    </a:ext>
                  </a:extLst>
                </a:gridCol>
                <a:gridCol w="3271195">
                  <a:extLst>
                    <a:ext uri="{9D8B030D-6E8A-4147-A177-3AD203B41FA5}">
                      <a16:colId xmlns:a16="http://schemas.microsoft.com/office/drawing/2014/main" val="2695234798"/>
                    </a:ext>
                  </a:extLst>
                </a:gridCol>
              </a:tblGrid>
              <a:tr h="1806352">
                <a:tc>
                  <a:txBody>
                    <a:bodyPr/>
                    <a:lstStyle/>
                    <a:p>
                      <a:pPr marL="0" marR="0" algn="ctr">
                        <a:spcBef>
                          <a:spcPts val="0"/>
                        </a:spcBef>
                        <a:spcAft>
                          <a:spcPts val="0"/>
                        </a:spcAft>
                      </a:pPr>
                      <a:r>
                        <a:rPr lang="en-IN" sz="1300" dirty="0" smtClean="0">
                          <a:effectLst/>
                          <a:latin typeface="Times New Roman" panose="02020603050405020304" pitchFamily="18" charset="0"/>
                          <a:cs typeface="Times New Roman" panose="02020603050405020304" pitchFamily="18" charset="0"/>
                        </a:rPr>
                        <a:t>    </a:t>
                      </a:r>
                    </a:p>
                    <a:p>
                      <a:pPr marL="0" marR="0" algn="ctr">
                        <a:spcBef>
                          <a:spcPts val="0"/>
                        </a:spcBef>
                        <a:spcAft>
                          <a:spcPts val="0"/>
                        </a:spcAft>
                      </a:pPr>
                      <a:endParaRPr lang="en-IN" sz="1300" dirty="0" smtClean="0">
                        <a:effectLst/>
                        <a:latin typeface="Times New Roman" panose="02020603050405020304" pitchFamily="18" charset="0"/>
                        <a:cs typeface="Times New Roman" panose="02020603050405020304" pitchFamily="18" charset="0"/>
                      </a:endParaRPr>
                    </a:p>
                    <a:p>
                      <a:pPr marL="0" marR="0" algn="ctr">
                        <a:lnSpc>
                          <a:spcPct val="150000"/>
                        </a:lnSpc>
                        <a:spcBef>
                          <a:spcPts val="0"/>
                        </a:spcBef>
                        <a:spcAft>
                          <a:spcPts val="0"/>
                        </a:spcAft>
                      </a:pPr>
                      <a:r>
                        <a:rPr lang="en-IN" sz="1300" dirty="0" smtClean="0">
                          <a:effectLst/>
                          <a:latin typeface="Times New Roman" panose="02020603050405020304" pitchFamily="18" charset="0"/>
                          <a:cs typeface="Times New Roman" panose="02020603050405020304" pitchFamily="18" charset="0"/>
                        </a:rPr>
                        <a:t>Teaching </a:t>
                      </a:r>
                      <a:r>
                        <a:rPr lang="en-IN" sz="1300" dirty="0">
                          <a:effectLst/>
                          <a:latin typeface="Times New Roman" panose="02020603050405020304" pitchFamily="18" charset="0"/>
                          <a:cs typeface="Times New Roman" panose="02020603050405020304" pitchFamily="18" charset="0"/>
                        </a:rPr>
                        <a:t>Support and Engagement (TE)</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IN" sz="1400" b="1" dirty="0">
                          <a:solidFill>
                            <a:schemeClr val="tx1"/>
                          </a:solidFill>
                          <a:effectLst/>
                          <a:latin typeface="Times New Roman" panose="02020603050405020304" pitchFamily="18" charset="0"/>
                          <a:cs typeface="Times New Roman" panose="02020603050405020304" pitchFamily="18" charset="0"/>
                        </a:rPr>
                        <a:t>TE_Q1: </a:t>
                      </a:r>
                      <a:r>
                        <a:rPr lang="en-US" sz="1400" b="1" dirty="0">
                          <a:solidFill>
                            <a:schemeClr val="tx1"/>
                          </a:solidFill>
                          <a:effectLst/>
                          <a:latin typeface="Times New Roman" panose="02020603050405020304" pitchFamily="18" charset="0"/>
                          <a:cs typeface="Times New Roman" panose="02020603050405020304" pitchFamily="18" charset="0"/>
                        </a:rPr>
                        <a:t>Academic Support</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TE_Q2: Study Material Quality</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TE_Q3: Digital tools Usage</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TE_Q4: Class Engagement</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TE_Q5: Student Motivation</a:t>
                      </a:r>
                      <a:endParaRPr lang="en-US" sz="1400" b="1"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chemeClr val="accent6">
                        <a:lumMod val="60000"/>
                        <a:lumOff val="40000"/>
                      </a:schemeClr>
                    </a:solidFill>
                  </a:tcPr>
                </a:tc>
                <a:extLst>
                  <a:ext uri="{0D108BD9-81ED-4DB2-BD59-A6C34878D82A}">
                    <a16:rowId xmlns:a16="http://schemas.microsoft.com/office/drawing/2014/main" val="407142668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908223884"/>
              </p:ext>
            </p:extLst>
          </p:nvPr>
        </p:nvGraphicFramePr>
        <p:xfrm>
          <a:off x="404038" y="2540000"/>
          <a:ext cx="6188148" cy="1851378"/>
        </p:xfrm>
        <a:graphic>
          <a:graphicData uri="http://schemas.openxmlformats.org/drawingml/2006/table">
            <a:tbl>
              <a:tblPr firstRow="1" firstCol="1" bandRow="1">
                <a:tableStyleId>{5C22544A-7EE6-4342-B048-85BDC9FD1C3A}</a:tableStyleId>
              </a:tblPr>
              <a:tblGrid>
                <a:gridCol w="2907827">
                  <a:extLst>
                    <a:ext uri="{9D8B030D-6E8A-4147-A177-3AD203B41FA5}">
                      <a16:colId xmlns:a16="http://schemas.microsoft.com/office/drawing/2014/main" val="1156745803"/>
                    </a:ext>
                  </a:extLst>
                </a:gridCol>
                <a:gridCol w="3280321">
                  <a:extLst>
                    <a:ext uri="{9D8B030D-6E8A-4147-A177-3AD203B41FA5}">
                      <a16:colId xmlns:a16="http://schemas.microsoft.com/office/drawing/2014/main" val="1488307989"/>
                    </a:ext>
                  </a:extLst>
                </a:gridCol>
              </a:tblGrid>
              <a:tr h="1851378">
                <a:tc>
                  <a:txBody>
                    <a:bodyPr/>
                    <a:lstStyle/>
                    <a:p>
                      <a:pPr marL="0" marR="0" algn="ctr">
                        <a:lnSpc>
                          <a:spcPct val="150000"/>
                        </a:lnSpc>
                        <a:spcBef>
                          <a:spcPts val="0"/>
                        </a:spcBef>
                        <a:spcAft>
                          <a:spcPts val="0"/>
                        </a:spcAft>
                      </a:pPr>
                      <a:endParaRPr lang="en-US" sz="1300" dirty="0" smtClean="0">
                        <a:effectLst/>
                        <a:latin typeface="Times New Roman" panose="02020603050405020304" pitchFamily="18" charset="0"/>
                        <a:cs typeface="Times New Roman" panose="02020603050405020304" pitchFamily="18" charset="0"/>
                      </a:endParaRPr>
                    </a:p>
                    <a:p>
                      <a:pPr marL="0" marR="0" algn="ctr">
                        <a:lnSpc>
                          <a:spcPct val="150000"/>
                        </a:lnSpc>
                        <a:spcBef>
                          <a:spcPts val="0"/>
                        </a:spcBef>
                        <a:spcAft>
                          <a:spcPts val="0"/>
                        </a:spcAft>
                      </a:pPr>
                      <a:r>
                        <a:rPr lang="en-US" sz="1300" dirty="0" smtClean="0">
                          <a:effectLst/>
                          <a:latin typeface="Times New Roman" panose="02020603050405020304" pitchFamily="18" charset="0"/>
                          <a:cs typeface="Times New Roman" panose="02020603050405020304" pitchFamily="18" charset="0"/>
                        </a:rPr>
                        <a:t>Student </a:t>
                      </a:r>
                      <a:r>
                        <a:rPr lang="en-US" sz="1300" dirty="0">
                          <a:effectLst/>
                          <a:latin typeface="Times New Roman" panose="02020603050405020304" pitchFamily="18" charset="0"/>
                          <a:cs typeface="Times New Roman" panose="02020603050405020304" pitchFamily="18" charset="0"/>
                        </a:rPr>
                        <a:t>Fulfillment</a:t>
                      </a:r>
                    </a:p>
                    <a:p>
                      <a:pPr marL="0" marR="0" algn="ctr">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 About the Faculty and Course</a:t>
                      </a:r>
                    </a:p>
                    <a:p>
                      <a:pPr marL="0" marR="0" algn="ctr">
                        <a:lnSpc>
                          <a:spcPct val="150000"/>
                        </a:lnSpc>
                        <a:spcBef>
                          <a:spcPts val="0"/>
                        </a:spcBef>
                        <a:spcAft>
                          <a:spcPts val="0"/>
                        </a:spcAft>
                      </a:pPr>
                      <a:r>
                        <a:rPr lang="en-US" sz="1300" dirty="0">
                          <a:effectLst/>
                          <a:latin typeface="Times New Roman" panose="02020603050405020304" pitchFamily="18" charset="0"/>
                          <a:cs typeface="Times New Roman" panose="02020603050405020304" pitchFamily="18" charset="0"/>
                        </a:rPr>
                        <a:t> </a:t>
                      </a:r>
                      <a:endParaRPr lang="en-US" sz="13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marL="0" marR="0">
                        <a:lnSpc>
                          <a:spcPct val="150000"/>
                        </a:lnSpc>
                        <a:spcBef>
                          <a:spcPts val="0"/>
                        </a:spcBef>
                        <a:spcAft>
                          <a:spcPts val="0"/>
                        </a:spcAft>
                      </a:pPr>
                      <a:r>
                        <a:rPr lang="en-IN" sz="1400" b="1" dirty="0">
                          <a:solidFill>
                            <a:schemeClr val="tx1"/>
                          </a:solidFill>
                          <a:effectLst/>
                          <a:latin typeface="Times New Roman" panose="02020603050405020304" pitchFamily="18" charset="0"/>
                          <a:cs typeface="Times New Roman" panose="02020603050405020304" pitchFamily="18" charset="0"/>
                        </a:rPr>
                        <a:t>SF_Q1: </a:t>
                      </a:r>
                      <a:r>
                        <a:rPr lang="en-US" sz="1400" b="1" dirty="0">
                          <a:solidFill>
                            <a:schemeClr val="tx1"/>
                          </a:solidFill>
                          <a:effectLst/>
                          <a:latin typeface="Times New Roman" panose="02020603050405020304" pitchFamily="18" charset="0"/>
                          <a:cs typeface="Times New Roman" panose="02020603050405020304" pitchFamily="18" charset="0"/>
                        </a:rPr>
                        <a:t>Teaching Quality Satisfaction</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SF_Q2: Learning Expectations</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SF_Q3: Faculty Recommendation Score </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SF_Q4: Learning Growth Environment</a:t>
                      </a:r>
                    </a:p>
                    <a:p>
                      <a:pPr marL="0" marR="0">
                        <a:lnSpc>
                          <a:spcPct val="150000"/>
                        </a:lnSpc>
                        <a:spcBef>
                          <a:spcPts val="0"/>
                        </a:spcBef>
                        <a:spcAft>
                          <a:spcPts val="0"/>
                        </a:spcAft>
                      </a:pPr>
                      <a:r>
                        <a:rPr lang="en-US" sz="1400" b="1" dirty="0">
                          <a:solidFill>
                            <a:schemeClr val="tx1"/>
                          </a:solidFill>
                          <a:effectLst/>
                          <a:latin typeface="Times New Roman" panose="02020603050405020304" pitchFamily="18" charset="0"/>
                          <a:cs typeface="Times New Roman" panose="02020603050405020304" pitchFamily="18" charset="0"/>
                        </a:rPr>
                        <a:t>SF_Q5: Course Recommendation Score</a:t>
                      </a:r>
                      <a:endParaRPr lang="en-US" sz="1400" b="1" dirty="0">
                        <a:solidFill>
                          <a:schemeClr val="tx1"/>
                        </a:solidFill>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3605322617"/>
                  </a:ext>
                </a:extLst>
              </a:tr>
            </a:tbl>
          </a:graphicData>
        </a:graphic>
      </p:graphicFrame>
      <p:sp>
        <p:nvSpPr>
          <p:cNvPr id="9" name="Rectangle 8"/>
          <p:cNvSpPr/>
          <p:nvPr/>
        </p:nvSpPr>
        <p:spPr>
          <a:xfrm>
            <a:off x="6741041" y="1023096"/>
            <a:ext cx="2094614" cy="1661625"/>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chemeClr val="tx1"/>
                </a:solidFill>
                <a:latin typeface="Times New Roman" panose="02020603050405020304" pitchFamily="18" charset="0"/>
                <a:cs typeface="Times New Roman" panose="02020603050405020304" pitchFamily="18" charset="0"/>
              </a:rPr>
              <a:t>SCHOLASTIC EXCELLENCE ANALYTICS</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1F49F94-4102-44CC-056B-FA1BB4DA8DA6}"/>
              </a:ext>
            </a:extLst>
          </p:cNvPr>
          <p:cNvPicPr>
            <a:picLocks noChangeAspect="1"/>
          </p:cNvPicPr>
          <p:nvPr/>
        </p:nvPicPr>
        <p:blipFill>
          <a:blip r:embed="rId2"/>
          <a:stretch>
            <a:fillRect/>
          </a:stretch>
        </p:blipFill>
        <p:spPr>
          <a:xfrm>
            <a:off x="6592186" y="2684721"/>
            <a:ext cx="2551814" cy="2158212"/>
          </a:xfrm>
          <a:prstGeom prst="rect">
            <a:avLst/>
          </a:prstGeom>
        </p:spPr>
      </p:pic>
    </p:spTree>
    <p:extLst>
      <p:ext uri="{BB962C8B-B14F-4D97-AF65-F5344CB8AC3E}">
        <p14:creationId xmlns:p14="http://schemas.microsoft.com/office/powerpoint/2010/main" val="18599251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 y="508000"/>
            <a:ext cx="6479822" cy="4334933"/>
          </a:xfrm>
          <a:prstGeom prst="rect">
            <a:avLst/>
          </a:prstGeom>
        </p:spPr>
      </p:pic>
      <p:sp>
        <p:nvSpPr>
          <p:cNvPr id="3" name="Rectangle 2"/>
          <p:cNvSpPr/>
          <p:nvPr/>
        </p:nvSpPr>
        <p:spPr>
          <a:xfrm>
            <a:off x="6762044" y="880533"/>
            <a:ext cx="2167467" cy="3149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TE-PULSE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TEACHING SUPPORT AND STUDENT ENGAGEMENT</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PROF.MEENA</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54844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622" y="605366"/>
            <a:ext cx="5994400" cy="4305300"/>
          </a:xfrm>
          <a:prstGeom prst="rect">
            <a:avLst/>
          </a:prstGeom>
        </p:spPr>
      </p:pic>
      <p:sp>
        <p:nvSpPr>
          <p:cNvPr id="3" name="Rectangle 2"/>
          <p:cNvSpPr/>
          <p:nvPr/>
        </p:nvSpPr>
        <p:spPr>
          <a:xfrm>
            <a:off x="6762044" y="880533"/>
            <a:ext cx="2167467" cy="31496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SF-PULSE</a:t>
            </a:r>
          </a:p>
          <a:p>
            <a:pPr algn="ctr">
              <a:lnSpc>
                <a:spcPct val="150000"/>
              </a:lnSpc>
            </a:pPr>
            <a:r>
              <a:rPr lang="en-US" sz="1400" b="1" dirty="0" smtClean="0">
                <a:solidFill>
                  <a:schemeClr val="tx1"/>
                </a:solidFill>
                <a:latin typeface="Times New Roman" panose="02020603050405020304" pitchFamily="18" charset="0"/>
                <a:cs typeface="Times New Roman" panose="02020603050405020304" pitchFamily="18" charset="0"/>
              </a:rPr>
              <a:t>STUDENT FULFILLMENT </a:t>
            </a:r>
          </a:p>
          <a:p>
            <a:pPr algn="ctr">
              <a:lnSpc>
                <a:spcPct val="150000"/>
              </a:lnSpc>
            </a:pPr>
            <a:endParaRPr lang="en-US" sz="1400" b="1" dirty="0" smtClean="0">
              <a:solidFill>
                <a:schemeClr val="tx1"/>
              </a:solidFill>
              <a:latin typeface="Times New Roman" panose="02020603050405020304" pitchFamily="18" charset="0"/>
              <a:cs typeface="Times New Roman" panose="02020603050405020304" pitchFamily="18" charset="0"/>
            </a:endParaRP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BEST PERFORMER</a:t>
            </a:r>
          </a:p>
          <a:p>
            <a:pPr algn="ctr">
              <a:lnSpc>
                <a:spcPct val="150000"/>
              </a:lnSpc>
            </a:pPr>
            <a:r>
              <a:rPr lang="en-US" sz="1400" b="1" dirty="0" smtClean="0">
                <a:solidFill>
                  <a:srgbClr val="FF0000"/>
                </a:solidFill>
                <a:latin typeface="Times New Roman" panose="02020603050405020304" pitchFamily="18" charset="0"/>
                <a:cs typeface="Times New Roman" panose="02020603050405020304" pitchFamily="18" charset="0"/>
              </a:rPr>
              <a:t>PROF.SURESH</a:t>
            </a:r>
            <a:endParaRPr lang="en-US" sz="1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152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045" y="1041832"/>
            <a:ext cx="3872088" cy="3413755"/>
          </a:xfrm>
          <a:prstGeom prst="rect">
            <a:avLst/>
          </a:prstGeom>
        </p:spPr>
        <p:txBody>
          <a:bodyPr wrap="square">
            <a:spAutoFit/>
          </a:bodyPr>
          <a:lstStyle/>
          <a:p>
            <a:pPr>
              <a:lnSpc>
                <a:spcPct val="150000"/>
              </a:lnSpc>
            </a:pPr>
            <a:r>
              <a:rPr lang="en-US" sz="1400" b="1" dirty="0" smtClean="0">
                <a:latin typeface="Times New Roman" panose="02020603050405020304" pitchFamily="18" charset="0"/>
                <a:ea typeface="Times New Roman" panose="02020603050405020304" pitchFamily="18" charset="0"/>
              </a:rPr>
              <a:t>Dataset Source</a:t>
            </a:r>
          </a:p>
          <a:p>
            <a:pPr algn="just">
              <a:lnSpc>
                <a:spcPct val="150000"/>
              </a:lnSpc>
            </a:pPr>
            <a:r>
              <a:rPr lang="en-US" sz="1400" dirty="0" smtClean="0">
                <a:latin typeface="Times New Roman" panose="02020603050405020304" pitchFamily="18" charset="0"/>
                <a:ea typeface="Times New Roman" panose="02020603050405020304" pitchFamily="18" charset="0"/>
              </a:rPr>
              <a:t>The </a:t>
            </a:r>
            <a:r>
              <a:rPr lang="en-US" sz="1400" dirty="0">
                <a:latin typeface="Times New Roman" panose="02020603050405020304" pitchFamily="18" charset="0"/>
                <a:ea typeface="Times New Roman" panose="02020603050405020304" pitchFamily="18" charset="0"/>
              </a:rPr>
              <a:t>dataset base was provided by </a:t>
            </a:r>
            <a:r>
              <a:rPr lang="en-US" sz="1400" dirty="0" err="1">
                <a:latin typeface="Times New Roman" panose="02020603050405020304" pitchFamily="18" charset="0"/>
                <a:ea typeface="Times New Roman" panose="02020603050405020304" pitchFamily="18" charset="0"/>
              </a:rPr>
              <a:t>Kaggle</a:t>
            </a:r>
            <a:r>
              <a:rPr lang="en-US" sz="1400" b="1" dirty="0">
                <a:latin typeface="Times New Roman" panose="02020603050405020304" pitchFamily="18" charset="0"/>
                <a:ea typeface="Times New Roman" panose="02020603050405020304" pitchFamily="18" charset="0"/>
              </a:rPr>
              <a:t> </a:t>
            </a:r>
            <a:r>
              <a:rPr lang="en-US" sz="1400" dirty="0">
                <a:latin typeface="Times New Roman" panose="02020603050405020304" pitchFamily="18" charset="0"/>
                <a:ea typeface="Times New Roman" panose="02020603050405020304" pitchFamily="18" charset="0"/>
              </a:rPr>
              <a:t>and integrated the feedback collection initiative from the </a:t>
            </a:r>
            <a:r>
              <a:rPr lang="en-US" sz="1400" dirty="0" err="1" smtClean="0">
                <a:latin typeface="Times New Roman" panose="02020603050405020304" pitchFamily="18" charset="0"/>
                <a:ea typeface="Times New Roman" panose="02020603050405020304" pitchFamily="18" charset="0"/>
              </a:rPr>
              <a:t>B.Com</a:t>
            </a:r>
            <a:r>
              <a:rPr lang="en-US" sz="1400" dirty="0" smtClean="0">
                <a:latin typeface="Times New Roman" panose="02020603050405020304" pitchFamily="18" charset="0"/>
                <a:ea typeface="Times New Roman" panose="02020603050405020304" pitchFamily="18" charset="0"/>
              </a:rPr>
              <a:t> students </a:t>
            </a:r>
            <a:r>
              <a:rPr lang="en-US" sz="1400" dirty="0">
                <a:latin typeface="Times New Roman" panose="02020603050405020304" pitchFamily="18" charset="0"/>
                <a:ea typeface="Times New Roman" panose="02020603050405020304" pitchFamily="18" charset="0"/>
              </a:rPr>
              <a:t>of our institution for Cost Accounting courses </a:t>
            </a:r>
            <a:r>
              <a:rPr lang="en-US" sz="1400" dirty="0" smtClean="0">
                <a:latin typeface="Times New Roman" panose="02020603050405020304" pitchFamily="18" charset="0"/>
                <a:ea typeface="Times New Roman" panose="02020603050405020304" pitchFamily="18" charset="0"/>
              </a:rPr>
              <a:t>across all  </a:t>
            </a:r>
            <a:r>
              <a:rPr lang="en-US" sz="1400" dirty="0" err="1" smtClean="0">
                <a:latin typeface="Times New Roman" panose="02020603050405020304" pitchFamily="18" charset="0"/>
                <a:ea typeface="Times New Roman" panose="02020603050405020304" pitchFamily="18" charset="0"/>
              </a:rPr>
              <a:t>B.Com</a:t>
            </a:r>
            <a:r>
              <a:rPr lang="en-US" sz="1400" dirty="0" smtClean="0">
                <a:latin typeface="Times New Roman" panose="02020603050405020304" pitchFamily="18" charset="0"/>
                <a:ea typeface="Times New Roman" panose="02020603050405020304" pitchFamily="18" charset="0"/>
              </a:rPr>
              <a:t> </a:t>
            </a:r>
            <a:r>
              <a:rPr lang="en-US" sz="1400" dirty="0">
                <a:latin typeface="Times New Roman" panose="02020603050405020304" pitchFamily="18" charset="0"/>
                <a:ea typeface="Times New Roman" panose="02020603050405020304" pitchFamily="18" charset="0"/>
              </a:rPr>
              <a:t>S</a:t>
            </a:r>
            <a:r>
              <a:rPr lang="en-US" sz="1400" dirty="0" smtClean="0">
                <a:latin typeface="Times New Roman" panose="02020603050405020304" pitchFamily="18" charset="0"/>
                <a:ea typeface="Times New Roman" panose="02020603050405020304" pitchFamily="18" charset="0"/>
              </a:rPr>
              <a:t>treams </a:t>
            </a:r>
            <a:r>
              <a:rPr lang="en-US" sz="1400" dirty="0">
                <a:latin typeface="Times New Roman" panose="02020603050405020304" pitchFamily="18" charset="0"/>
                <a:ea typeface="Times New Roman" panose="02020603050405020304" pitchFamily="18" charset="0"/>
              </a:rPr>
              <a:t>and integrated both and framed Structured Data set.</a:t>
            </a:r>
            <a:endParaRPr lang="en-US" sz="1400" dirty="0">
              <a:latin typeface="Arial" panose="020B0604020202020204" pitchFamily="34" charset="0"/>
              <a:ea typeface="Arial" panose="020B0604020202020204" pitchFamily="34" charset="0"/>
            </a:endParaRPr>
          </a:p>
          <a:p>
            <a:pPr algn="just">
              <a:lnSpc>
                <a:spcPct val="150000"/>
              </a:lnSpc>
              <a:spcBef>
                <a:spcPts val="300"/>
              </a:spcBef>
              <a:spcAft>
                <a:spcPts val="400"/>
              </a:spcAft>
            </a:pPr>
            <a:r>
              <a:rPr lang="en-IN" sz="1400" b="1" dirty="0">
                <a:latin typeface="Times New Roman" panose="02020603050405020304" pitchFamily="18" charset="0"/>
                <a:ea typeface="Arial" panose="020B0604020202020204" pitchFamily="34" charset="0"/>
              </a:rPr>
              <a:t>Raw and Uncleaned dataset size:</a:t>
            </a:r>
            <a:r>
              <a:rPr lang="en-IN" sz="1400" dirty="0">
                <a:latin typeface="Times New Roman" panose="02020603050405020304" pitchFamily="18" charset="0"/>
                <a:ea typeface="Arial" panose="020B0604020202020204" pitchFamily="34" charset="0"/>
              </a:rPr>
              <a:t> Number of rows -500 and columns in the raw </a:t>
            </a:r>
            <a:r>
              <a:rPr lang="en-IN" sz="1400" dirty="0" smtClean="0">
                <a:latin typeface="Times New Roman" panose="02020603050405020304" pitchFamily="18" charset="0"/>
                <a:ea typeface="Arial" panose="020B0604020202020204" pitchFamily="34" charset="0"/>
              </a:rPr>
              <a:t>data-44</a:t>
            </a:r>
          </a:p>
          <a:p>
            <a:pPr algn="just">
              <a:lnSpc>
                <a:spcPct val="150000"/>
              </a:lnSpc>
            </a:pPr>
            <a:r>
              <a:rPr lang="en-US" sz="1400" b="1" dirty="0" smtClean="0">
                <a:latin typeface="Times New Roman" panose="02020603050405020304" pitchFamily="18" charset="0"/>
                <a:ea typeface="Times New Roman" panose="02020603050405020304" pitchFamily="18" charset="0"/>
              </a:rPr>
              <a:t>Cleaned </a:t>
            </a:r>
            <a:r>
              <a:rPr lang="en-US" sz="1400" b="1" dirty="0">
                <a:latin typeface="Times New Roman" panose="02020603050405020304" pitchFamily="18" charset="0"/>
                <a:ea typeface="Times New Roman" panose="02020603050405020304" pitchFamily="18" charset="0"/>
              </a:rPr>
              <a:t>Dataset Size</a:t>
            </a:r>
            <a:r>
              <a:rPr lang="en-IN" sz="1400" dirty="0">
                <a:latin typeface="Times New Roman" panose="02020603050405020304" pitchFamily="18" charset="0"/>
                <a:ea typeface="Arial" panose="020B0604020202020204" pitchFamily="34" charset="0"/>
              </a:rPr>
              <a:t> Number of rows -480 and columns in the raw data-44</a:t>
            </a:r>
            <a:endParaRPr lang="en-US" sz="1400" dirty="0">
              <a:effectLst/>
              <a:latin typeface="Arial" panose="020B0604020202020204" pitchFamily="34" charset="0"/>
              <a:ea typeface="Arial" panose="020B0604020202020204" pitchFamily="34" charset="0"/>
            </a:endParaRPr>
          </a:p>
        </p:txBody>
      </p:sp>
      <p:sp>
        <p:nvSpPr>
          <p:cNvPr id="3" name="Text 2"/>
          <p:cNvSpPr/>
          <p:nvPr/>
        </p:nvSpPr>
        <p:spPr>
          <a:xfrm>
            <a:off x="699910" y="602920"/>
            <a:ext cx="7660039" cy="438912"/>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5601" y="1143056"/>
            <a:ext cx="4865509" cy="3643433"/>
          </a:xfrm>
          <a:prstGeom prst="rect">
            <a:avLst/>
          </a:prstGeom>
        </p:spPr>
      </p:pic>
    </p:spTree>
    <p:extLst>
      <p:ext uri="{BB962C8B-B14F-4D97-AF65-F5344CB8AC3E}">
        <p14:creationId xmlns:p14="http://schemas.microsoft.com/office/powerpoint/2010/main" val="4085846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350" y="1041832"/>
            <a:ext cx="4176887" cy="3739485"/>
          </a:xfrm>
          <a:prstGeom prst="rect">
            <a:avLst/>
          </a:prstGeom>
        </p:spPr>
        <p:txBody>
          <a:bodyPr wrap="square">
            <a:spAutoFit/>
          </a:bodyPr>
          <a:lstStyle/>
          <a:p>
            <a:pPr marR="0" lvl="0">
              <a:spcBef>
                <a:spcPts val="0"/>
              </a:spcBef>
              <a:spcAft>
                <a:spcPts val="0"/>
              </a:spcAft>
            </a:pPr>
            <a:r>
              <a:rPr lang="en-IN" sz="1400" b="1" u="sng" dirty="0">
                <a:latin typeface="Times New Roman" panose="02020603050405020304" pitchFamily="18" charset="0"/>
                <a:ea typeface="Arial" panose="020B0604020202020204" pitchFamily="34" charset="0"/>
              </a:rPr>
              <a:t>Data Cleaning </a:t>
            </a:r>
            <a:r>
              <a:rPr lang="en-US" sz="1400" dirty="0" smtClean="0">
                <a:latin typeface="Arial" panose="020B0604020202020204" pitchFamily="34" charset="0"/>
                <a:ea typeface="Arial" panose="020B0604020202020204" pitchFamily="34" charset="0"/>
              </a:rPr>
              <a:t>–</a:t>
            </a:r>
          </a:p>
          <a:p>
            <a:pPr marR="0" lvl="0">
              <a:spcBef>
                <a:spcPts val="0"/>
              </a:spcBef>
              <a:spcAft>
                <a:spcPts val="0"/>
              </a:spcAft>
            </a:pPr>
            <a:endParaRPr lang="en-US" sz="1400" b="1" dirty="0">
              <a:latin typeface="Arial" panose="020B0604020202020204" pitchFamily="34" charset="0"/>
              <a:ea typeface="Times New Roman" panose="02020603050405020304" pitchFamily="18" charset="0"/>
            </a:endParaRPr>
          </a:p>
          <a:p>
            <a:pPr marR="0" lvl="0">
              <a:spcBef>
                <a:spcPts val="0"/>
              </a:spcBef>
              <a:spcAft>
                <a:spcPts val="0"/>
              </a:spcAft>
            </a:pPr>
            <a:r>
              <a:rPr lang="en-US" sz="1400" b="1" dirty="0" smtClean="0">
                <a:latin typeface="Times New Roman" panose="02020603050405020304" pitchFamily="18" charset="0"/>
                <a:ea typeface="Times New Roman" panose="02020603050405020304" pitchFamily="18" charset="0"/>
              </a:rPr>
              <a:t>Removed </a:t>
            </a:r>
            <a:r>
              <a:rPr lang="en-US" sz="1400" b="1" dirty="0">
                <a:latin typeface="Times New Roman" panose="02020603050405020304" pitchFamily="18" charset="0"/>
                <a:ea typeface="Times New Roman" panose="02020603050405020304" pitchFamily="18" charset="0"/>
              </a:rPr>
              <a:t>Duplicates</a:t>
            </a:r>
            <a:endParaRPr lang="en-US" sz="14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400" dirty="0">
                <a:latin typeface="Times New Roman" panose="02020603050405020304" pitchFamily="18" charset="0"/>
                <a:ea typeface="Times New Roman" panose="02020603050405020304" pitchFamily="18" charset="0"/>
              </a:rPr>
              <a:t>Checked for repeated </a:t>
            </a:r>
            <a:r>
              <a:rPr lang="en-US" sz="1400" dirty="0" err="1">
                <a:latin typeface="Times New Roman" panose="02020603050405020304" pitchFamily="18" charset="0"/>
                <a:ea typeface="Times New Roman" panose="02020603050405020304" pitchFamily="18" charset="0"/>
              </a:rPr>
              <a:t>Student_ID</a:t>
            </a:r>
            <a:r>
              <a:rPr lang="en-US" sz="1400" dirty="0">
                <a:latin typeface="Times New Roman" panose="02020603050405020304" pitchFamily="18" charset="0"/>
                <a:ea typeface="Times New Roman" panose="02020603050405020304" pitchFamily="18" charset="0"/>
              </a:rPr>
              <a:t> entries</a:t>
            </a:r>
            <a:r>
              <a:rPr lang="en-US" sz="1400" dirty="0" smtClean="0">
                <a:latin typeface="Times New Roman" panose="02020603050405020304" pitchFamily="18" charset="0"/>
                <a:ea typeface="Times New Roman" panose="02020603050405020304" pitchFamily="18" charset="0"/>
              </a:rPr>
              <a:t>..</a:t>
            </a:r>
            <a:endParaRPr lang="en-US" sz="14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400" dirty="0">
                <a:latin typeface="Times New Roman" panose="02020603050405020304" pitchFamily="18" charset="0"/>
                <a:ea typeface="Times New Roman" panose="02020603050405020304" pitchFamily="18" charset="0"/>
              </a:rPr>
              <a:t>Dropped any exact duplicates to maintain data integrity.                                                                                                  </a:t>
            </a:r>
            <a:endParaRPr lang="en-US" sz="1400" dirty="0">
              <a:latin typeface="Arial" panose="020B0604020202020204" pitchFamily="34" charset="0"/>
              <a:ea typeface="Arial" panose="020B0604020202020204" pitchFamily="34" charset="0"/>
            </a:endParaRPr>
          </a:p>
          <a:p>
            <a:pPr>
              <a:lnSpc>
                <a:spcPct val="150000"/>
              </a:lnSpc>
            </a:pPr>
            <a:r>
              <a:rPr lang="en-US" sz="1400" b="1" dirty="0">
                <a:latin typeface="Times New Roman" panose="02020603050405020304" pitchFamily="18" charset="0"/>
                <a:ea typeface="Times New Roman" panose="02020603050405020304" pitchFamily="18" charset="0"/>
              </a:rPr>
              <a:t> Handled Null or Missing Values</a:t>
            </a:r>
            <a:endParaRPr lang="en-US" sz="14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400" dirty="0">
                <a:latin typeface="Times New Roman" panose="02020603050405020304" pitchFamily="18" charset="0"/>
                <a:ea typeface="Times New Roman" panose="02020603050405020304" pitchFamily="18" charset="0"/>
              </a:rPr>
              <a:t>Scanned all columns for blanks or missing entries.</a:t>
            </a:r>
            <a:endParaRPr lang="en-US" sz="14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400" dirty="0">
                <a:latin typeface="Times New Roman" panose="02020603050405020304" pitchFamily="18" charset="0"/>
                <a:ea typeface="Times New Roman" panose="02020603050405020304" pitchFamily="18" charset="0"/>
              </a:rPr>
              <a:t>For numerical feedback questions named SE_Q1 to SE_Q5, replaced missing values with the </a:t>
            </a:r>
            <a:r>
              <a:rPr lang="en-US" sz="1400" b="1" dirty="0">
                <a:latin typeface="Times New Roman" panose="02020603050405020304" pitchFamily="18" charset="0"/>
                <a:ea typeface="Times New Roman" panose="02020603050405020304" pitchFamily="18" charset="0"/>
              </a:rPr>
              <a:t>Average score</a:t>
            </a:r>
            <a:r>
              <a:rPr lang="en-US" sz="1400" dirty="0">
                <a:latin typeface="Times New Roman" panose="02020603050405020304" pitchFamily="18" charset="0"/>
                <a:ea typeface="Times New Roman" panose="02020603050405020304" pitchFamily="18" charset="0"/>
              </a:rPr>
              <a:t> of that question to preserve statistical balance.</a:t>
            </a:r>
            <a:endParaRPr lang="en-US" sz="1400" dirty="0">
              <a:effectLst/>
              <a:latin typeface="Arial" panose="020B0604020202020204" pitchFamily="34" charset="0"/>
              <a:ea typeface="Arial" panose="020B0604020202020204" pitchFamily="34" charset="0"/>
            </a:endParaRPr>
          </a:p>
        </p:txBody>
      </p:sp>
      <p:pic>
        <p:nvPicPr>
          <p:cNvPr id="3" name="Picture 2" descr="D:\New folder-AICW Project\Final Presentation\Report Figures\Dataset-500 rows.png"/>
          <p:cNvPicPr/>
          <p:nvPr/>
        </p:nvPicPr>
        <p:blipFill>
          <a:blip r:embed="rId2">
            <a:extLst>
              <a:ext uri="{28A0092B-C50C-407E-A947-70E740481C1C}">
                <a14:useLocalDpi xmlns:a14="http://schemas.microsoft.com/office/drawing/2010/main" val="0"/>
              </a:ext>
            </a:extLst>
          </a:blip>
          <a:srcRect/>
          <a:stretch>
            <a:fillRect/>
          </a:stretch>
        </p:blipFill>
        <p:spPr bwMode="auto">
          <a:xfrm>
            <a:off x="4651022" y="1062977"/>
            <a:ext cx="4391378" cy="3697193"/>
          </a:xfrm>
          <a:prstGeom prst="rect">
            <a:avLst/>
          </a:prstGeom>
          <a:noFill/>
          <a:ln>
            <a:noFill/>
          </a:ln>
        </p:spPr>
      </p:pic>
      <p:sp>
        <p:nvSpPr>
          <p:cNvPr id="4" name="Text 2"/>
          <p:cNvSpPr/>
          <p:nvPr/>
        </p:nvSpPr>
        <p:spPr>
          <a:xfrm>
            <a:off x="130350" y="602920"/>
            <a:ext cx="8229600" cy="438912"/>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33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536477" y="1041832"/>
            <a:ext cx="7823473" cy="1366939"/>
          </a:xfrm>
          <a:prstGeom prst="rect">
            <a:avLst/>
          </a:prstGeom>
        </p:spPr>
      </p:pic>
      <p:pic>
        <p:nvPicPr>
          <p:cNvPr id="5" name="Picture 4"/>
          <p:cNvPicPr>
            <a:picLocks noChangeAspect="1"/>
          </p:cNvPicPr>
          <p:nvPr/>
        </p:nvPicPr>
        <p:blipFill>
          <a:blip r:embed="rId5"/>
          <a:stretch>
            <a:fillRect/>
          </a:stretch>
        </p:blipFill>
        <p:spPr>
          <a:xfrm>
            <a:off x="661309" y="2682293"/>
            <a:ext cx="8046755" cy="2033016"/>
          </a:xfrm>
          <a:prstGeom prst="rect">
            <a:avLst/>
          </a:prstGeom>
        </p:spPr>
      </p:pic>
    </p:spTree>
    <p:custDataLst>
      <p:tags r:id="rId1"/>
    </p:custDataLst>
    <p:extLst>
      <p:ext uri="{BB962C8B-B14F-4D97-AF65-F5344CB8AC3E}">
        <p14:creationId xmlns:p14="http://schemas.microsoft.com/office/powerpoint/2010/main" val="8203916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30350" y="602920"/>
            <a:ext cx="8229600" cy="446947"/>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563526" y="967562"/>
            <a:ext cx="5624623" cy="3831818"/>
          </a:xfrm>
          <a:prstGeom prst="rect">
            <a:avLst/>
          </a:prstGeom>
        </p:spPr>
        <p:txBody>
          <a:bodyPr wrap="square">
            <a:spAutoFit/>
          </a:bodyPr>
          <a:lstStyle/>
          <a:p>
            <a:pPr>
              <a:lnSpc>
                <a:spcPct val="150000"/>
              </a:lnSpc>
            </a:pPr>
            <a:r>
              <a:rPr lang="en-US" b="1" dirty="0">
                <a:latin typeface="Times New Roman" panose="02020603050405020304" pitchFamily="18" charset="0"/>
                <a:ea typeface="Times New Roman" panose="02020603050405020304" pitchFamily="18" charset="0"/>
              </a:rPr>
              <a:t> Dash Board Components </a:t>
            </a:r>
            <a:r>
              <a:rPr lang="en-US" b="1" dirty="0" smtClean="0">
                <a:latin typeface="Times New Roman" panose="02020603050405020304" pitchFamily="18" charset="0"/>
                <a:ea typeface="Times New Roman" panose="02020603050405020304" pitchFamily="18" charset="0"/>
              </a:rPr>
              <a:t>–MICROSOFT EXCEL</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Syllabus coverage and Preparation Pulse</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Communication and Teaching Methodology Pulse</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Assessment and Feedback-performance Matrix</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Teaching Excellence Analytics </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Student Feedback Analytics</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Faculty Performance-Leader Board</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Teaching Learning Outcomes</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Wingdings" panose="05000000000000000000" pitchFamily="2" charset="2"/>
              <a:buChar char=""/>
            </a:pPr>
            <a:r>
              <a:rPr lang="en-US" dirty="0">
                <a:latin typeface="Times New Roman" panose="02020603050405020304" pitchFamily="18" charset="0"/>
                <a:ea typeface="Times New Roman" panose="02020603050405020304" pitchFamily="18" charset="0"/>
              </a:rPr>
              <a:t>Faculty Rating Validation</a:t>
            </a:r>
            <a:endParaRPr lang="en-US" dirty="0"/>
          </a:p>
        </p:txBody>
      </p:sp>
    </p:spTree>
    <p:custDataLst>
      <p:tags r:id="rId1"/>
    </p:custDataLst>
    <p:extLst>
      <p:ext uri="{BB962C8B-B14F-4D97-AF65-F5344CB8AC3E}">
        <p14:creationId xmlns:p14="http://schemas.microsoft.com/office/powerpoint/2010/main" val="1383914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645" y="1207912"/>
            <a:ext cx="8703734" cy="2923877"/>
          </a:xfrm>
          <a:prstGeom prst="rect">
            <a:avLst/>
          </a:prstGeom>
        </p:spPr>
        <p:txBody>
          <a:bodyPr wrap="square">
            <a:spAutoFit/>
          </a:bodyPr>
          <a:lstStyle/>
          <a:p>
            <a:r>
              <a:rPr lang="en-US" sz="1600" b="1" u="sng" dirty="0">
                <a:latin typeface="Times New Roman" panose="02020603050405020304" pitchFamily="18" charset="0"/>
                <a:ea typeface="Times New Roman" panose="02020603050405020304" pitchFamily="18" charset="0"/>
              </a:rPr>
              <a:t>Dashboard Visualization and Insights</a:t>
            </a:r>
            <a:endParaRPr lang="en-US" sz="14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Clustered Column Chart </a:t>
            </a:r>
            <a:r>
              <a:rPr lang="en-US" sz="1600" dirty="0">
                <a:latin typeface="Times New Roman" panose="02020603050405020304" pitchFamily="18" charset="0"/>
                <a:ea typeface="Times New Roman" panose="02020603050405020304" pitchFamily="18" charset="0"/>
              </a:rPr>
              <a:t> – Average ratings across SE, SC, CM, AF, GO for all four faculties</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Line or Area chart </a:t>
            </a:r>
            <a:r>
              <a:rPr lang="en-US" sz="1600" dirty="0">
                <a:latin typeface="Times New Roman" panose="02020603050405020304" pitchFamily="18" charset="0"/>
                <a:ea typeface="Times New Roman" panose="02020603050405020304" pitchFamily="18" charset="0"/>
              </a:rPr>
              <a:t>– Assessment and Feedback Pulse Analytics of the faculty members.</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Improvement Trend Line</a:t>
            </a:r>
            <a:r>
              <a:rPr lang="en-US" sz="1600" dirty="0">
                <a:latin typeface="Times New Roman" panose="02020603050405020304" pitchFamily="18" charset="0"/>
                <a:ea typeface="Times New Roman" panose="02020603050405020304" pitchFamily="18" charset="0"/>
              </a:rPr>
              <a:t> – Plot Improvement line for the priority areas of improvement</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Bar graph</a:t>
            </a:r>
            <a:r>
              <a:rPr lang="en-US" sz="1600" dirty="0">
                <a:latin typeface="Times New Roman" panose="02020603050405020304" pitchFamily="18" charset="0"/>
                <a:ea typeface="Times New Roman" panose="02020603050405020304" pitchFamily="18" charset="0"/>
              </a:rPr>
              <a:t>-Faculty performance Matrix for communication and teaching methodology.</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Overall Rating Distribution Pie Chart</a:t>
            </a:r>
            <a:r>
              <a:rPr lang="en-US" sz="1600" dirty="0">
                <a:latin typeface="Times New Roman" panose="02020603050405020304" pitchFamily="18" charset="0"/>
                <a:ea typeface="Times New Roman" panose="02020603050405020304" pitchFamily="18" charset="0"/>
              </a:rPr>
              <a:t> – Show proportion of students rating faculty 1–5.</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Scatter Chart </a:t>
            </a:r>
            <a:r>
              <a:rPr lang="en-US" sz="1600" dirty="0">
                <a:latin typeface="Times New Roman" panose="02020603050405020304" pitchFamily="18" charset="0"/>
                <a:ea typeface="Times New Roman" panose="02020603050405020304" pitchFamily="18" charset="0"/>
              </a:rPr>
              <a:t>–Teaching and learning Outcomes of the Faculty Members</a:t>
            </a:r>
            <a:endParaRPr lang="en-US" sz="1600" dirty="0">
              <a:latin typeface="Arial" panose="020B0604020202020204" pitchFamily="34" charset="0"/>
              <a:ea typeface="Arial" panose="020B0604020202020204" pitchFamily="34" charset="0"/>
            </a:endParaRPr>
          </a:p>
          <a:p>
            <a:pPr marL="342900" marR="0" lvl="0" indent="-342900">
              <a:lnSpc>
                <a:spcPct val="150000"/>
              </a:lnSpc>
              <a:spcBef>
                <a:spcPts val="0"/>
              </a:spcBef>
              <a:spcAft>
                <a:spcPts val="0"/>
              </a:spcAft>
              <a:buFont typeface="+mj-lt"/>
              <a:buAutoNum type="arabicPeriod"/>
              <a:tabLst>
                <a:tab pos="457200" algn="l"/>
              </a:tabLst>
            </a:pPr>
            <a:r>
              <a:rPr lang="en-US" sz="1600" b="1" dirty="0">
                <a:latin typeface="Times New Roman" panose="02020603050405020304" pitchFamily="18" charset="0"/>
                <a:ea typeface="Times New Roman" panose="02020603050405020304" pitchFamily="18" charset="0"/>
              </a:rPr>
              <a:t>Stacked Area Chart</a:t>
            </a:r>
            <a:r>
              <a:rPr lang="en-US" sz="1600" dirty="0">
                <a:latin typeface="Times New Roman" panose="02020603050405020304" pitchFamily="18" charset="0"/>
                <a:ea typeface="Times New Roman" panose="02020603050405020304" pitchFamily="18" charset="0"/>
              </a:rPr>
              <a:t>- Faculty Rating Validation.</a:t>
            </a:r>
            <a:endParaRPr lang="en-US" sz="1600" dirty="0">
              <a:effectLst/>
              <a:latin typeface="Arial" panose="020B0604020202020204" pitchFamily="34" charset="0"/>
              <a:ea typeface="Arial" panose="020B0604020202020204" pitchFamily="34" charset="0"/>
            </a:endParaRPr>
          </a:p>
        </p:txBody>
      </p:sp>
      <p:sp>
        <p:nvSpPr>
          <p:cNvPr id="3" name="Text 2"/>
          <p:cNvSpPr/>
          <p:nvPr/>
        </p:nvSpPr>
        <p:spPr>
          <a:xfrm>
            <a:off x="130350" y="602920"/>
            <a:ext cx="8229600" cy="438912"/>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2985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54756" y="602920"/>
            <a:ext cx="7705194" cy="438912"/>
          </a:xfrm>
          <a:prstGeom prst="rect">
            <a:avLst/>
          </a:prstGeom>
          <a:noFill/>
          <a:ln/>
        </p:spPr>
        <p:txBody>
          <a:bodyPr wrap="square" rtlCol="0" anchor="ctr"/>
          <a:lstStyle/>
          <a:p>
            <a:pPr marL="0" indent="0" algn="ctr">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393405" y="1232915"/>
            <a:ext cx="8250865" cy="3626163"/>
          </a:xfrm>
          <a:prstGeom prst="rect">
            <a:avLst/>
          </a:prstGeom>
        </p:spPr>
      </p:pic>
    </p:spTree>
    <p:custDataLst>
      <p:tags r:id="rId1"/>
    </p:custDataLst>
    <p:extLst>
      <p:ext uri="{BB962C8B-B14F-4D97-AF65-F5344CB8AC3E}">
        <p14:creationId xmlns:p14="http://schemas.microsoft.com/office/powerpoint/2010/main" val="39641039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5" name="Rectangle 4"/>
          <p:cNvSpPr/>
          <p:nvPr/>
        </p:nvSpPr>
        <p:spPr>
          <a:xfrm>
            <a:off x="903111" y="1185334"/>
            <a:ext cx="6716889" cy="553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latin typeface="Times New Roman" panose="02020603050405020304" pitchFamily="18" charset="0"/>
                <a:cs typeface="Times New Roman" panose="02020603050405020304" pitchFamily="18" charset="0"/>
              </a:rPr>
              <a:t>MICROSOFT EXCEL</a:t>
            </a:r>
            <a:endParaRPr lang="en-US" sz="2400" b="1" dirty="0">
              <a:latin typeface="Times New Roman" panose="02020603050405020304" pitchFamily="18" charset="0"/>
              <a:cs typeface="Times New Roman" panose="02020603050405020304" pitchFamily="18" charset="0"/>
            </a:endParaRPr>
          </a:p>
        </p:txBody>
      </p:sp>
      <p:sp>
        <p:nvSpPr>
          <p:cNvPr id="6" name="Rectangle 5"/>
          <p:cNvSpPr/>
          <p:nvPr/>
        </p:nvSpPr>
        <p:spPr>
          <a:xfrm>
            <a:off x="790222" y="1877613"/>
            <a:ext cx="6976535" cy="2831544"/>
          </a:xfrm>
          <a:prstGeom prst="rect">
            <a:avLst/>
          </a:prstGeom>
        </p:spPr>
        <p:txBody>
          <a:bodyPr wrap="square">
            <a:spAutoFit/>
          </a:bodyPr>
          <a:lstStyle/>
          <a:p>
            <a:pPr>
              <a:lnSpc>
                <a:spcPct val="150000"/>
              </a:lnSpc>
            </a:pPr>
            <a:r>
              <a:rPr lang="en-US" sz="2000" b="1" dirty="0" smtClean="0">
                <a:latin typeface="Times New Roman" panose="02020603050405020304" pitchFamily="18" charset="0"/>
                <a:ea typeface="Times New Roman" panose="02020603050405020304" pitchFamily="18" charset="0"/>
              </a:rPr>
              <a:t>   KPI </a:t>
            </a:r>
            <a:r>
              <a:rPr lang="en-US" sz="2000" b="1" dirty="0">
                <a:latin typeface="Times New Roman" panose="02020603050405020304" pitchFamily="18" charset="0"/>
                <a:ea typeface="Times New Roman" panose="02020603050405020304" pitchFamily="18" charset="0"/>
              </a:rPr>
              <a:t>-</a:t>
            </a:r>
            <a:r>
              <a:rPr lang="en-US" sz="2000" b="1" dirty="0" smtClean="0">
                <a:latin typeface="Times New Roman" panose="02020603050405020304" pitchFamily="18" charset="0"/>
                <a:ea typeface="Times New Roman" panose="02020603050405020304" pitchFamily="18" charset="0"/>
              </a:rPr>
              <a:t>DASHBOARD</a:t>
            </a:r>
            <a:endParaRPr lang="en-US" sz="2000" dirty="0">
              <a:latin typeface="Arial" panose="020B0604020202020204" pitchFamily="34" charset="0"/>
              <a:ea typeface="Arial" panose="020B0604020202020204" pitchFamily="34" charset="0"/>
            </a:endParaRPr>
          </a:p>
          <a:p>
            <a:pPr>
              <a:lnSpc>
                <a:spcPct val="200000"/>
              </a:lnSpc>
            </a:pPr>
            <a:r>
              <a:rPr lang="en-IN" sz="2000" dirty="0">
                <a:latin typeface="Arial" panose="020B0604020202020204" pitchFamily="34" charset="0"/>
                <a:ea typeface="Arial" panose="020B0604020202020204" pitchFamily="34" charset="0"/>
              </a:rPr>
              <a:t>• </a:t>
            </a:r>
            <a:r>
              <a:rPr lang="en-IN" dirty="0" smtClean="0">
                <a:latin typeface="Times New Roman" panose="02020603050405020304" pitchFamily="18" charset="0"/>
                <a:ea typeface="Arial" panose="020B0604020202020204" pitchFamily="34" charset="0"/>
              </a:rPr>
              <a:t>TEACHING QUALITY EXCELLENCE</a:t>
            </a:r>
            <a:endParaRPr lang="en-US" dirty="0">
              <a:latin typeface="Arial" panose="020B0604020202020204" pitchFamily="34" charset="0"/>
              <a:ea typeface="Arial" panose="020B0604020202020204" pitchFamily="34" charset="0"/>
            </a:endParaRPr>
          </a:p>
          <a:p>
            <a:pPr>
              <a:lnSpc>
                <a:spcPct val="200000"/>
              </a:lnSpc>
            </a:pPr>
            <a:r>
              <a:rPr lang="en-IN" dirty="0">
                <a:latin typeface="Times New Roman" panose="02020603050405020304" pitchFamily="18" charset="0"/>
                <a:ea typeface="Arial" panose="020B0604020202020204" pitchFamily="34" charset="0"/>
              </a:rPr>
              <a:t>• </a:t>
            </a:r>
            <a:r>
              <a:rPr lang="en-IN" dirty="0" smtClean="0">
                <a:latin typeface="Times New Roman" panose="02020603050405020304" pitchFamily="18" charset="0"/>
                <a:ea typeface="Arial" panose="020B0604020202020204" pitchFamily="34" charset="0"/>
              </a:rPr>
              <a:t>LEARNING OUTCOME EXCELLENCE</a:t>
            </a:r>
            <a:endParaRPr lang="en-US" dirty="0">
              <a:latin typeface="Arial" panose="020B0604020202020204" pitchFamily="34" charset="0"/>
              <a:ea typeface="Arial" panose="020B0604020202020204" pitchFamily="34" charset="0"/>
            </a:endParaRPr>
          </a:p>
          <a:p>
            <a:pPr>
              <a:lnSpc>
                <a:spcPct val="200000"/>
              </a:lnSpc>
            </a:pPr>
            <a:r>
              <a:rPr lang="en-IN" dirty="0" smtClean="0">
                <a:latin typeface="Times New Roman" panose="02020603050405020304" pitchFamily="18" charset="0"/>
                <a:ea typeface="Arial" panose="020B0604020202020204" pitchFamily="34" charset="0"/>
              </a:rPr>
              <a:t>•STUDENT EXPERIENCE EXCELLENCE</a:t>
            </a:r>
            <a:endParaRPr lang="en-US" dirty="0">
              <a:latin typeface="Arial" panose="020B0604020202020204" pitchFamily="34" charset="0"/>
              <a:ea typeface="Arial" panose="020B0604020202020204" pitchFamily="34" charset="0"/>
            </a:endParaRPr>
          </a:p>
          <a:p>
            <a:pPr>
              <a:lnSpc>
                <a:spcPct val="200000"/>
              </a:lnSpc>
            </a:pPr>
            <a:r>
              <a:rPr lang="en-IN" dirty="0">
                <a:latin typeface="Times New Roman" panose="02020603050405020304" pitchFamily="18" charset="0"/>
                <a:ea typeface="Arial" panose="020B0604020202020204" pitchFamily="34" charset="0"/>
              </a:rPr>
              <a:t>• </a:t>
            </a:r>
            <a:r>
              <a:rPr lang="en-IN" dirty="0" smtClean="0">
                <a:latin typeface="Times New Roman" panose="02020603050405020304" pitchFamily="18" charset="0"/>
                <a:ea typeface="Arial" panose="020B0604020202020204" pitchFamily="34" charset="0"/>
              </a:rPr>
              <a:t>LEADER BOARD-FACULTY PERFORMANCE METRICS</a:t>
            </a:r>
            <a:endParaRPr lang="en-US"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657100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496711"/>
            <a:ext cx="8229600" cy="338667"/>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65956"/>
            <a:ext cx="9144000" cy="3777544"/>
          </a:xfrm>
          <a:prstGeom prst="rect">
            <a:avLst/>
          </a:prstGeom>
        </p:spPr>
      </p:pic>
      <p:sp>
        <p:nvSpPr>
          <p:cNvPr id="2" name="Rectangle 1"/>
          <p:cNvSpPr/>
          <p:nvPr/>
        </p:nvSpPr>
        <p:spPr>
          <a:xfrm>
            <a:off x="1885244" y="925689"/>
            <a:ext cx="4730045" cy="3499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TEACHING EXCELLENCE ANALYTICS</a:t>
            </a:r>
            <a:endParaRPr lang="en-US" sz="2000" b="1" dirty="0"/>
          </a:p>
        </p:txBody>
      </p:sp>
    </p:spTree>
    <p:custDataLst>
      <p:tags r:id="rId1"/>
    </p:custDataLst>
    <p:extLst>
      <p:ext uri="{BB962C8B-B14F-4D97-AF65-F5344CB8AC3E}">
        <p14:creationId xmlns:p14="http://schemas.microsoft.com/office/powerpoint/2010/main" val="1469595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496711"/>
            <a:ext cx="8229600" cy="338667"/>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2" name="Rectangle 1"/>
          <p:cNvSpPr/>
          <p:nvPr/>
        </p:nvSpPr>
        <p:spPr>
          <a:xfrm>
            <a:off x="1885244" y="925689"/>
            <a:ext cx="5328356" cy="3499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LEARNING OUTCOMES EXCELLENCE ANALYTICS</a:t>
            </a:r>
            <a:endParaRPr lang="en-US" sz="2000" b="1"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65955"/>
            <a:ext cx="9144000" cy="3623733"/>
          </a:xfrm>
          <a:prstGeom prst="rect">
            <a:avLst/>
          </a:prstGeom>
        </p:spPr>
      </p:pic>
    </p:spTree>
    <p:custDataLst>
      <p:tags r:id="rId1"/>
    </p:custDataLst>
    <p:extLst>
      <p:ext uri="{BB962C8B-B14F-4D97-AF65-F5344CB8AC3E}">
        <p14:creationId xmlns:p14="http://schemas.microsoft.com/office/powerpoint/2010/main" val="596528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496711"/>
            <a:ext cx="8229600" cy="338667"/>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2" name="Rectangle 1"/>
          <p:cNvSpPr/>
          <p:nvPr/>
        </p:nvSpPr>
        <p:spPr>
          <a:xfrm>
            <a:off x="1885244" y="925689"/>
            <a:ext cx="4730045" cy="3499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SCHOLASTIC EXCELLENCE  ANALYTICS </a:t>
            </a:r>
            <a:endParaRPr lang="en-US" sz="2000" b="1"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365956"/>
            <a:ext cx="9144000" cy="3687232"/>
          </a:xfrm>
          <a:prstGeom prst="rect">
            <a:avLst/>
          </a:prstGeom>
        </p:spPr>
      </p:pic>
    </p:spTree>
    <p:custDataLst>
      <p:tags r:id="rId1"/>
    </p:custDataLst>
    <p:extLst>
      <p:ext uri="{BB962C8B-B14F-4D97-AF65-F5344CB8AC3E}">
        <p14:creationId xmlns:p14="http://schemas.microsoft.com/office/powerpoint/2010/main" val="1668802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496711"/>
            <a:ext cx="8229600" cy="338667"/>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2" name="Rectangle 1"/>
          <p:cNvSpPr/>
          <p:nvPr/>
        </p:nvSpPr>
        <p:spPr>
          <a:xfrm>
            <a:off x="1411111" y="925689"/>
            <a:ext cx="6208889" cy="3499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FACULTY PERFORMANCE METRICS-LEADER BOARD</a:t>
            </a:r>
            <a:endParaRPr lang="en-US" sz="2000" b="1"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700" y="1365956"/>
            <a:ext cx="8401078" cy="3533422"/>
          </a:xfrm>
          <a:prstGeom prst="rect">
            <a:avLst/>
          </a:prstGeom>
        </p:spPr>
      </p:pic>
    </p:spTree>
    <p:custDataLst>
      <p:tags r:id="rId1"/>
    </p:custDataLst>
    <p:extLst>
      <p:ext uri="{BB962C8B-B14F-4D97-AF65-F5344CB8AC3E}">
        <p14:creationId xmlns:p14="http://schemas.microsoft.com/office/powerpoint/2010/main" val="36216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5" name="Rectangle 4"/>
          <p:cNvSpPr/>
          <p:nvPr/>
        </p:nvSpPr>
        <p:spPr>
          <a:xfrm>
            <a:off x="903111" y="1185334"/>
            <a:ext cx="6716889" cy="553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latin typeface="Times New Roman" panose="02020603050405020304" pitchFamily="18" charset="0"/>
                <a:cs typeface="Times New Roman" panose="02020603050405020304" pitchFamily="18" charset="0"/>
              </a:rPr>
              <a:t>POWER-BI</a:t>
            </a:r>
            <a:endParaRPr lang="en-US" sz="2400" b="1" dirty="0">
              <a:latin typeface="Times New Roman" panose="02020603050405020304" pitchFamily="18" charset="0"/>
              <a:cs typeface="Times New Roman" panose="02020603050405020304" pitchFamily="18" charset="0"/>
            </a:endParaRPr>
          </a:p>
        </p:txBody>
      </p:sp>
      <p:sp>
        <p:nvSpPr>
          <p:cNvPr id="6" name="Rectangle 5"/>
          <p:cNvSpPr/>
          <p:nvPr/>
        </p:nvSpPr>
        <p:spPr>
          <a:xfrm>
            <a:off x="790222" y="1877613"/>
            <a:ext cx="6976535" cy="2646878"/>
          </a:xfrm>
          <a:prstGeom prst="rect">
            <a:avLst/>
          </a:prstGeom>
        </p:spPr>
        <p:txBody>
          <a:bodyPr wrap="square">
            <a:spAutoFit/>
          </a:bodyPr>
          <a:lstStyle/>
          <a:p>
            <a:pPr>
              <a:lnSpc>
                <a:spcPct val="200000"/>
              </a:lnSpc>
            </a:pPr>
            <a:r>
              <a:rPr lang="en-US" sz="2000" b="1" dirty="0" smtClean="0">
                <a:latin typeface="Times New Roman" panose="02020603050405020304" pitchFamily="18" charset="0"/>
                <a:cs typeface="Times New Roman" panose="02020603050405020304" pitchFamily="18" charset="0"/>
              </a:rPr>
              <a:t>VISUALIZATION </a:t>
            </a:r>
            <a:r>
              <a:rPr lang="en-US" sz="2000" b="1" dirty="0">
                <a:latin typeface="Times New Roman" panose="02020603050405020304" pitchFamily="18" charset="0"/>
                <a:cs typeface="Times New Roman" panose="02020603050405020304" pitchFamily="18" charset="0"/>
              </a:rPr>
              <a:t>/ OUTPUT RESULTS</a:t>
            </a:r>
            <a:endParaRPr lang="en-US" sz="2000" dirty="0">
              <a:latin typeface="Times New Roman" panose="02020603050405020304" pitchFamily="18" charset="0"/>
              <a:cs typeface="Times New Roman" panose="02020603050405020304" pitchFamily="18" charset="0"/>
            </a:endParaRPr>
          </a:p>
          <a:p>
            <a:pPr>
              <a:lnSpc>
                <a:spcPct val="200000"/>
              </a:lnSpc>
            </a:pPr>
            <a:r>
              <a:rPr lang="en-IN" b="1" dirty="0" smtClean="0">
                <a:latin typeface="Times New Roman" panose="02020603050405020304" pitchFamily="18" charset="0"/>
                <a:cs typeface="Times New Roman" panose="02020603050405020304" pitchFamily="18" charset="0"/>
              </a:rPr>
              <a:t>DASHBOARD </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FACULTY TEACHING QUALITY MATRIX</a:t>
            </a:r>
            <a:endParaRPr lang="en-US"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pPr>
              <a:lnSpc>
                <a:spcPct val="200000"/>
              </a:lnSpc>
            </a:pPr>
            <a:r>
              <a:rPr lang="en-IN" b="1" dirty="0" smtClean="0">
                <a:latin typeface="Times New Roman" panose="02020603050405020304" pitchFamily="18" charset="0"/>
                <a:cs typeface="Times New Roman" panose="02020603050405020304" pitchFamily="18" charset="0"/>
              </a:rPr>
              <a:t>DASHBOARD — TEACHING LEARNING OUTCOMES</a:t>
            </a:r>
            <a:endParaRPr lang="en-US" b="1" dirty="0">
              <a:latin typeface="Times New Roman" panose="02020603050405020304" pitchFamily="18" charset="0"/>
              <a:cs typeface="Times New Roman" panose="02020603050405020304" pitchFamily="18" charset="0"/>
            </a:endParaRPr>
          </a:p>
          <a:p>
            <a:pPr>
              <a:lnSpc>
                <a:spcPct val="200000"/>
              </a:lnSpc>
            </a:pPr>
            <a:endParaRPr lang="en-US" b="1" dirty="0">
              <a:effectLst/>
              <a:latin typeface="Times New Roman" panose="02020603050405020304" pitchFamily="18" charset="0"/>
              <a:ea typeface="Arial" panose="020B060402020202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88762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                                       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pic>
        <p:nvPicPr>
          <p:cNvPr id="2" name="Picture 1"/>
          <p:cNvPicPr>
            <a:picLocks noChangeAspect="1"/>
          </p:cNvPicPr>
          <p:nvPr/>
        </p:nvPicPr>
        <p:blipFill>
          <a:blip r:embed="rId4"/>
          <a:stretch>
            <a:fillRect/>
          </a:stretch>
        </p:blipFill>
        <p:spPr>
          <a:xfrm>
            <a:off x="280112" y="1152713"/>
            <a:ext cx="4206828" cy="3674467"/>
          </a:xfrm>
          <a:prstGeom prst="rect">
            <a:avLst/>
          </a:prstGeom>
        </p:spPr>
      </p:pic>
      <p:pic>
        <p:nvPicPr>
          <p:cNvPr id="3" name="Picture 2"/>
          <p:cNvPicPr>
            <a:picLocks noChangeAspect="1"/>
          </p:cNvPicPr>
          <p:nvPr/>
        </p:nvPicPr>
        <p:blipFill>
          <a:blip r:embed="rId5"/>
          <a:stretch>
            <a:fillRect/>
          </a:stretch>
        </p:blipFill>
        <p:spPr>
          <a:xfrm>
            <a:off x="4922873" y="1152714"/>
            <a:ext cx="3859619" cy="3674466"/>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New folder-AICW Project\Final Presentation\Report Figures\Screenshot (517).png"/>
          <p:cNvPicPr/>
          <p:nvPr/>
        </p:nvPicPr>
        <p:blipFill>
          <a:blip r:embed="rId2">
            <a:extLst>
              <a:ext uri="{28A0092B-C50C-407E-A947-70E740481C1C}">
                <a14:useLocalDpi xmlns:a14="http://schemas.microsoft.com/office/drawing/2010/main" val="0"/>
              </a:ext>
            </a:extLst>
          </a:blip>
          <a:srcRect/>
          <a:stretch>
            <a:fillRect/>
          </a:stretch>
        </p:blipFill>
        <p:spPr bwMode="auto">
          <a:xfrm>
            <a:off x="395111" y="1046210"/>
            <a:ext cx="8534399" cy="3738021"/>
          </a:xfrm>
          <a:prstGeom prst="rect">
            <a:avLst/>
          </a:prstGeom>
          <a:noFill/>
          <a:ln>
            <a:noFill/>
          </a:ln>
        </p:spPr>
      </p:pic>
      <p:sp>
        <p:nvSpPr>
          <p:cNvPr id="3"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                                              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8744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                                              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pic>
        <p:nvPicPr>
          <p:cNvPr id="6" name="Picture 5" descr="D:\New folder-AICW Project\Final Presentation\Report Figures\Screenshot (518).png"/>
          <p:cNvPicPr/>
          <p:nvPr/>
        </p:nvPicPr>
        <p:blipFill>
          <a:blip r:embed="rId4">
            <a:extLst>
              <a:ext uri="{28A0092B-C50C-407E-A947-70E740481C1C}">
                <a14:useLocalDpi xmlns:a14="http://schemas.microsoft.com/office/drawing/2010/main" val="0"/>
              </a:ext>
            </a:extLst>
          </a:blip>
          <a:srcRect/>
          <a:stretch>
            <a:fillRect/>
          </a:stretch>
        </p:blipFill>
        <p:spPr bwMode="auto">
          <a:xfrm>
            <a:off x="527751" y="1046210"/>
            <a:ext cx="7710993" cy="3659552"/>
          </a:xfrm>
          <a:prstGeom prst="rect">
            <a:avLst/>
          </a:prstGeom>
          <a:noFill/>
          <a:ln>
            <a:noFill/>
          </a:ln>
        </p:spPr>
      </p:pic>
    </p:spTree>
    <p:custDataLst>
      <p:tags r:id="rId1"/>
    </p:custDataLst>
    <p:extLst>
      <p:ext uri="{BB962C8B-B14F-4D97-AF65-F5344CB8AC3E}">
        <p14:creationId xmlns:p14="http://schemas.microsoft.com/office/powerpoint/2010/main" val="3260780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5" name="Rectangle 4"/>
          <p:cNvSpPr/>
          <p:nvPr/>
        </p:nvSpPr>
        <p:spPr>
          <a:xfrm>
            <a:off x="903111" y="1185334"/>
            <a:ext cx="6716889" cy="553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latin typeface="Times New Roman" panose="02020603050405020304" pitchFamily="18" charset="0"/>
                <a:cs typeface="Times New Roman" panose="02020603050405020304" pitchFamily="18" charset="0"/>
              </a:rPr>
              <a:t>COPILOT STUDIO</a:t>
            </a:r>
            <a:endParaRPr lang="en-US" sz="24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196622" y="2199190"/>
            <a:ext cx="5670521" cy="587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latin typeface="Times New Roman" panose="02020603050405020304" pitchFamily="18" charset="0"/>
                <a:cs typeface="Times New Roman" panose="02020603050405020304" pitchFamily="18" charset="0"/>
              </a:rPr>
              <a:t>FEEDBACK ASSISTANT CHATBOT</a:t>
            </a:r>
            <a:endParaRPr lang="en-US" sz="2400" dirty="0">
              <a:latin typeface="Times New Roman" panose="02020603050405020304" pitchFamily="18" charset="0"/>
              <a:cs typeface="Times New Roman" panose="02020603050405020304" pitchFamily="18" charset="0"/>
            </a:endParaRPr>
          </a:p>
        </p:txBody>
      </p:sp>
      <p:sp>
        <p:nvSpPr>
          <p:cNvPr id="3" name="Rectangle 2"/>
          <p:cNvSpPr/>
          <p:nvPr/>
        </p:nvSpPr>
        <p:spPr>
          <a:xfrm>
            <a:off x="1196622" y="3057264"/>
            <a:ext cx="5768623" cy="6208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latin typeface="Times New Roman" panose="02020603050405020304" pitchFamily="18" charset="0"/>
                <a:cs typeface="Times New Roman" panose="02020603050405020304" pitchFamily="18" charset="0"/>
              </a:rPr>
              <a:t>TESTING THE AGENT</a:t>
            </a:r>
            <a:endParaRPr lang="en-US" sz="2000" b="1"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261791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smtClean="0">
                <a:solidFill>
                  <a:srgbClr val="1B3A8A"/>
                </a:solidFill>
                <a:latin typeface="Lato" panose="020F0502020204030203" pitchFamily="34" charset="0"/>
                <a:ea typeface="Calibri" pitchFamily="34" charset="-122"/>
                <a:cs typeface="Arial" panose="020B0604020202020204" pitchFamily="34" charset="0"/>
              </a:rPr>
              <a:t>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LIVE </a:t>
            </a:r>
            <a:r>
              <a:rPr lang="en-US" sz="2000" b="1" dirty="0" smtClean="0">
                <a:solidFill>
                  <a:srgbClr val="1B3A8A"/>
                </a:solidFill>
                <a:latin typeface="Times New Roman" panose="02020603050405020304" pitchFamily="18" charset="0"/>
                <a:ea typeface="Calibri" pitchFamily="34" charset="-122"/>
                <a:cs typeface="Times New Roman" panose="02020603050405020304" pitchFamily="18" charset="0"/>
              </a:rPr>
              <a:t>DEMO OF PROJECT</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156" y="1188136"/>
            <a:ext cx="3996267" cy="366340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6532" y="1131692"/>
            <a:ext cx="4459111" cy="3719845"/>
          </a:xfrm>
          <a:prstGeom prst="rect">
            <a:avLst/>
          </a:prstGeom>
        </p:spPr>
      </p:pic>
    </p:spTree>
    <p:custDataLst>
      <p:tags r:id="rId1"/>
    </p:custDataLst>
    <p:extLst>
      <p:ext uri="{BB962C8B-B14F-4D97-AF65-F5344CB8AC3E}">
        <p14:creationId xmlns:p14="http://schemas.microsoft.com/office/powerpoint/2010/main" val="608989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270438"/>
          </a:xfrm>
          <a:prstGeom prst="rect">
            <a:avLst/>
          </a:prstGeom>
          <a:noFill/>
          <a:ln/>
        </p:spPr>
        <p:txBody>
          <a:bodyPr wrap="square" rtlCol="0" anchor="ctr"/>
          <a:lstStyle/>
          <a:p>
            <a:pPr marL="0" indent="0" algn="ctr">
              <a:buNone/>
            </a:pPr>
            <a:r>
              <a:rPr lang="en-US" sz="2400" b="1" dirty="0" smtClean="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6496494" y="1250292"/>
            <a:ext cx="2743842" cy="3309355"/>
          </a:xfrm>
          <a:prstGeom prst="rect">
            <a:avLst/>
          </a:prstGeom>
        </p:spPr>
      </p:pic>
      <p:sp>
        <p:nvSpPr>
          <p:cNvPr id="3" name="Rectangle 2"/>
          <p:cNvSpPr/>
          <p:nvPr/>
        </p:nvSpPr>
        <p:spPr>
          <a:xfrm>
            <a:off x="125486" y="1050976"/>
            <a:ext cx="6501092" cy="3647152"/>
          </a:xfrm>
          <a:prstGeom prst="rect">
            <a:avLst/>
          </a:prstGeom>
        </p:spPr>
        <p:txBody>
          <a:bodyPr wrap="square">
            <a:spAutoFit/>
          </a:bodyPr>
          <a:lstStyle/>
          <a:p>
            <a:pPr>
              <a:lnSpc>
                <a:spcPct val="150000"/>
              </a:lnSpc>
            </a:pPr>
            <a:r>
              <a:rPr lang="en-US" sz="1400" dirty="0"/>
              <a:t>The project provides a comprehensive evaluation of student feedback on the Cost Accounting course through a structured, data-driven approach using Likert-scale analysis, composite indices, and comparative faculty assessment. The findings indicate an overall satisfactory level of student perception, with consistent performance across key dimensions such as syllabus coverage, teaching effectiveness, assessment practices, and skill development. However, the presence of moderate and neutral responses highlights the need for targeted improvements in engagement strategies, practical exposure, and feedback mechanisms.</a:t>
            </a:r>
          </a:p>
          <a:p>
            <a:pPr>
              <a:lnSpc>
                <a:spcPct val="150000"/>
              </a:lnSpc>
            </a:pPr>
            <a:r>
              <a:rPr lang="en-US" sz="1400" dirty="0"/>
              <a:t>By integrating analytical tools, dashboard visualization, and AI-assisted insight extraction, </a:t>
            </a:r>
            <a:r>
              <a:rPr lang="en-US" sz="1400" dirty="0" smtClean="0"/>
              <a:t>the </a:t>
            </a:r>
            <a:r>
              <a:rPr lang="en-US" sz="1400" dirty="0"/>
              <a:t>project contributes to strengthening academic delivery and ensuring alignment with evolving student expectations and industry requirements.</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6" y="613561"/>
            <a:ext cx="8691143" cy="438912"/>
          </a:xfrm>
          <a:prstGeom prst="rect">
            <a:avLst/>
          </a:prstGeom>
          <a:noFill/>
          <a:ln/>
        </p:spPr>
        <p:txBody>
          <a:bodyPr wrap="square" rtlCol="0" anchor="ctr"/>
          <a:lstStyle/>
          <a:p>
            <a:pPr marL="0" indent="0">
              <a:buNone/>
            </a:pP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FUTURE SCOPE</a:t>
            </a:r>
            <a:endParaRPr lang="en-US" sz="2000" b="1" dirty="0">
              <a:latin typeface="Times New Roman" panose="02020603050405020304" pitchFamily="18" charset="0"/>
              <a:cs typeface="Times New Roman" panose="02020603050405020304" pitchFamily="18" charset="0"/>
            </a:endParaRPr>
          </a:p>
        </p:txBody>
      </p:sp>
      <p:sp>
        <p:nvSpPr>
          <p:cNvPr id="14" name="Text 12"/>
          <p:cNvSpPr/>
          <p:nvPr/>
        </p:nvSpPr>
        <p:spPr>
          <a:xfrm>
            <a:off x="320041" y="1188430"/>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6642" y="1188430"/>
            <a:ext cx="2987748" cy="3384274"/>
          </a:xfrm>
          <a:prstGeom prst="rect">
            <a:avLst/>
          </a:prstGeom>
        </p:spPr>
      </p:pic>
      <p:sp>
        <p:nvSpPr>
          <p:cNvPr id="3" name="Rectangle 2"/>
          <p:cNvSpPr/>
          <p:nvPr/>
        </p:nvSpPr>
        <p:spPr>
          <a:xfrm>
            <a:off x="218441" y="1102214"/>
            <a:ext cx="5729886" cy="3647152"/>
          </a:xfrm>
          <a:prstGeom prst="rect">
            <a:avLst/>
          </a:prstGeom>
        </p:spPr>
        <p:txBody>
          <a:bodyPr wrap="square">
            <a:spAutoFit/>
          </a:bodyPr>
          <a:lstStyle/>
          <a:p>
            <a:pPr algn="just">
              <a:lnSpc>
                <a:spcPct val="150000"/>
              </a:lnSpc>
              <a:spcBef>
                <a:spcPts val="1400"/>
              </a:spcBef>
              <a:spcAft>
                <a:spcPts val="600"/>
              </a:spcAft>
            </a:pPr>
            <a:r>
              <a:rPr lang="en-IN" sz="1400" dirty="0">
                <a:latin typeface="Times New Roman" panose="02020603050405020304" pitchFamily="18" charset="0"/>
                <a:ea typeface="Arial" panose="020B0604020202020204" pitchFamily="34" charset="0"/>
              </a:rPr>
              <a:t>In the next phase, this project can be expanded by integrating qualitative feedback </a:t>
            </a:r>
            <a:r>
              <a:rPr lang="en-IN" sz="1400" dirty="0" smtClean="0">
                <a:latin typeface="Times New Roman" panose="02020603050405020304" pitchFamily="18" charset="0"/>
                <a:ea typeface="Arial" panose="020B0604020202020204" pitchFamily="34" charset="0"/>
              </a:rPr>
              <a:t>analysis </a:t>
            </a:r>
            <a:r>
              <a:rPr lang="en-IN" sz="1400" dirty="0">
                <a:latin typeface="Times New Roman" panose="02020603050405020304" pitchFamily="18" charset="0"/>
                <a:ea typeface="Arial" panose="020B0604020202020204" pitchFamily="34" charset="0"/>
              </a:rPr>
              <a:t>alongside quantitative ratings to capture richer insights. Incorporating predictive analytics in Power BI could help forecast satisfaction trends and identify at-risk themes before they decline. Another enhancement would be to connect the dashboard with real-time data sources </a:t>
            </a:r>
            <a:r>
              <a:rPr lang="en-IN" sz="1400" dirty="0" smtClean="0">
                <a:latin typeface="Times New Roman" panose="02020603050405020304" pitchFamily="18" charset="0"/>
                <a:ea typeface="Arial" panose="020B0604020202020204" pitchFamily="34" charset="0"/>
              </a:rPr>
              <a:t>so </a:t>
            </a:r>
            <a:r>
              <a:rPr lang="en-IN" sz="1400" dirty="0">
                <a:latin typeface="Times New Roman" panose="02020603050405020304" pitchFamily="18" charset="0"/>
                <a:ea typeface="Arial" panose="020B0604020202020204" pitchFamily="34" charset="0"/>
              </a:rPr>
              <a:t>faculty and coordinators can monitor feedback continuously rather than at the end of a </a:t>
            </a:r>
            <a:r>
              <a:rPr lang="en-IN" sz="1400" dirty="0" smtClean="0">
                <a:latin typeface="Times New Roman" panose="02020603050405020304" pitchFamily="18" charset="0"/>
                <a:ea typeface="Arial" panose="020B0604020202020204" pitchFamily="34" charset="0"/>
              </a:rPr>
              <a:t>term. Building </a:t>
            </a:r>
            <a:r>
              <a:rPr lang="en-IN" sz="1400" dirty="0">
                <a:latin typeface="Times New Roman" panose="02020603050405020304" pitchFamily="18" charset="0"/>
                <a:ea typeface="Arial" panose="020B0604020202020204" pitchFamily="34" charset="0"/>
              </a:rPr>
              <a:t>faculty development recommendation modules—where AI suggests targeted training or interventions based on weak areas—would make the system more </a:t>
            </a:r>
            <a:r>
              <a:rPr lang="en-IN" sz="1400" dirty="0" smtClean="0">
                <a:latin typeface="Times New Roman" panose="02020603050405020304" pitchFamily="18" charset="0"/>
                <a:ea typeface="Arial" panose="020B0604020202020204" pitchFamily="34" charset="0"/>
              </a:rPr>
              <a:t>actionable and establish </a:t>
            </a:r>
            <a:r>
              <a:rPr lang="en-IN" sz="1400" dirty="0">
                <a:latin typeface="Times New Roman" panose="02020603050405020304" pitchFamily="18" charset="0"/>
                <a:ea typeface="Arial" panose="020B0604020202020204" pitchFamily="34" charset="0"/>
              </a:rPr>
              <a:t>a standardized feedback ecosystem that supports broader educational innovation and student empowerment.</a:t>
            </a:r>
            <a:endParaRPr lang="en-US" sz="1400" dirty="0">
              <a:effectLst/>
              <a:latin typeface="Arial" panose="020B0604020202020204" pitchFamily="34" charset="0"/>
              <a:ea typeface="Arial" panose="020B0604020202020204" pitchFamily="34" charset="0"/>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98405"/>
          </a:xfrm>
          <a:prstGeom prst="rect">
            <a:avLst/>
          </a:prstGeom>
        </p:spPr>
        <p:txBody>
          <a:bodyPr wrap="square" lIns="0" tIns="0" rIns="0" bIns="0" rtlCol="0" anchor="t">
            <a:spAutoFit/>
          </a:bodyPr>
          <a:lstStyle/>
          <a:p>
            <a:pPr algn="ctr">
              <a:lnSpc>
                <a:spcPts val="10686"/>
              </a:lnSpc>
            </a:pPr>
            <a:r>
              <a:rPr lang="en-US" sz="5000" b="1" dirty="0" smtClean="0">
                <a:solidFill>
                  <a:srgbClr val="0D358D"/>
                </a:solidFill>
                <a:latin typeface="Lato" panose="020F0502020204030203" pitchFamily="34" charset="0"/>
                <a:ea typeface="Aileron Ultra-Bold"/>
                <a:cs typeface="Arial" panose="020B0604020202020204" pitchFamily="34" charset="0"/>
                <a:sym typeface="Aileron Ultra-Bold"/>
              </a:rPr>
              <a:t>THANK YOU</a:t>
            </a:r>
            <a:endParaRPr lang="en-US" sz="5000" b="1" dirty="0">
              <a:solidFill>
                <a:srgbClr val="0D358D"/>
              </a:solidFill>
              <a:latin typeface="Lato" panose="020F0502020204030203" pitchFamily="34" charset="0"/>
              <a:ea typeface="Aileron Ultra-Bold"/>
              <a:cs typeface="Arial" panose="020B0604020202020204" pitchFamily="34" charset="0"/>
              <a:sym typeface="Aileron Ultra-Bold"/>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667</TotalTime>
  <Words>1502</Words>
  <Application>Microsoft Office PowerPoint</Application>
  <PresentationFormat>On-screen Show (16:9)</PresentationFormat>
  <Paragraphs>258</Paragraphs>
  <Slides>38</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Aileron</vt:lpstr>
      <vt:lpstr>Aileron Bold</vt:lpstr>
      <vt:lpstr>Aileron Ultra-Bold</vt:lpstr>
      <vt:lpstr>Arial</vt:lpstr>
      <vt:lpstr>Calibri</vt:lpstr>
      <vt:lpstr>Courier New</vt:lpstr>
      <vt:lpstr>Lato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ADMIN</cp:lastModifiedBy>
  <cp:revision>84</cp:revision>
  <dcterms:created xsi:type="dcterms:W3CDTF">2026-02-18T09:17:23Z</dcterms:created>
  <dcterms:modified xsi:type="dcterms:W3CDTF">2026-04-14T11:52:06Z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